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18288000" cy="10287000"/>
  <p:notesSz cx="6858000" cy="9144000"/>
  <p:embeddedFontLst>
    <p:embeddedFont>
      <p:font typeface="Bahnschrift Light" panose="020B0502040204020203" pitchFamily="34" charset="0"/>
      <p:regular r:id="rId61"/>
    </p:embeddedFont>
    <p:embeddedFont>
      <p:font typeface="Century Gothic Paneuropean" panose="020B0604020202020204" charset="0"/>
      <p:regular r:id="rId62"/>
    </p:embeddedFont>
    <p:embeddedFont>
      <p:font typeface="Century Gothic Paneuropean Bold" panose="020B0604020202020204" charset="0"/>
      <p:regular r:id="rId63"/>
    </p:embeddedFont>
    <p:embeddedFont>
      <p:font typeface="Open Sans" panose="020F0502020204030204" pitchFamily="34" charset="0"/>
      <p:regular r:id="rId64"/>
    </p:embeddedFont>
    <p:embeddedFont>
      <p:font typeface="Open Sans Bold" panose="020B0604020202020204" charset="0"/>
      <p:regular r:id="rId65"/>
    </p:embeddedFont>
    <p:embeddedFont>
      <p:font typeface="Times" panose="02020603050405020304" pitchFamily="18" charset="0"/>
      <p:regular r:id="rId66"/>
      <p:bold r:id="rId67"/>
      <p:italic r:id="rId68"/>
      <p:boldItalic r:id="rId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5.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34754" y="3297377"/>
            <a:ext cx="13018493" cy="2079287"/>
          </a:xfrm>
          <a:prstGeom prst="rect">
            <a:avLst/>
          </a:prstGeom>
        </p:spPr>
        <p:txBody>
          <a:bodyPr lIns="0" tIns="0" rIns="0" bIns="0" rtlCol="0" anchor="t">
            <a:spAutoFit/>
          </a:bodyPr>
          <a:lstStyle/>
          <a:p>
            <a:pPr algn="ctr">
              <a:lnSpc>
                <a:spcPts val="17489"/>
              </a:lnSpc>
            </a:pPr>
            <a:r>
              <a:rPr lang="vi-VN" sz="12492" b="1" dirty="0">
                <a:solidFill>
                  <a:srgbClr val="000000"/>
                </a:solidFill>
                <a:latin typeface="Bahnschrift Light" panose="020B0502040204020203" pitchFamily="34" charset="0"/>
                <a:ea typeface="Century Gothic Paneuropean Bold"/>
                <a:cs typeface="Century Gothic Paneuropean Bold"/>
                <a:sym typeface="Century Gothic Paneuropean Bold"/>
              </a:rPr>
              <a:t>CHƯ</a:t>
            </a:r>
            <a:r>
              <a:rPr lang="en-US" sz="12492" b="1" dirty="0">
                <a:solidFill>
                  <a:srgbClr val="000000"/>
                </a:solidFill>
                <a:latin typeface="Bahnschrift Light" panose="020B0502040204020203" pitchFamily="34" charset="0"/>
                <a:ea typeface="Century Gothic Paneuropean Bold"/>
                <a:cs typeface="Century Gothic Paneuropean Bold"/>
                <a:sym typeface="Century Gothic Paneuropean Bold"/>
              </a:rPr>
              <a:t>ƠNG 9</a:t>
            </a:r>
          </a:p>
        </p:txBody>
      </p:sp>
      <p:sp>
        <p:nvSpPr>
          <p:cNvPr id="3" name="TextBox 3"/>
          <p:cNvSpPr txBox="1"/>
          <p:nvPr/>
        </p:nvSpPr>
        <p:spPr>
          <a:xfrm>
            <a:off x="4882925" y="5559892"/>
            <a:ext cx="8522150" cy="2150274"/>
          </a:xfrm>
          <a:prstGeom prst="rect">
            <a:avLst/>
          </a:prstGeom>
        </p:spPr>
        <p:txBody>
          <a:bodyPr lIns="0" tIns="0" rIns="0" bIns="0" rtlCol="0" anchor="t">
            <a:spAutoFit/>
          </a:bodyPr>
          <a:lstStyle/>
          <a:p>
            <a:pPr algn="ctr">
              <a:lnSpc>
                <a:spcPts val="8642"/>
              </a:lnSpc>
            </a:pPr>
            <a:r>
              <a:rPr lang="en-US" sz="6173">
                <a:solidFill>
                  <a:srgbClr val="000000"/>
                </a:solidFill>
                <a:latin typeface="Century Gothic Paneuropean"/>
                <a:ea typeface="Century Gothic Paneuropean"/>
                <a:cs typeface="Century Gothic Paneuropean"/>
                <a:sym typeface="Century Gothic Paneuropean"/>
              </a:rPr>
              <a:t>Phần mềm và kiến trúc thiết kế</a:t>
            </a: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5147122" y="3603984"/>
            <a:ext cx="7993757" cy="2797467"/>
          </a:xfrm>
          <a:prstGeom prst="rect">
            <a:avLst/>
          </a:prstGeom>
        </p:spPr>
        <p:txBody>
          <a:bodyPr lIns="0" tIns="0" rIns="0" bIns="0" rtlCol="0" anchor="t">
            <a:spAutoFit/>
          </a:bodyPr>
          <a:lstStyle/>
          <a:p>
            <a:pPr algn="ctr">
              <a:lnSpc>
                <a:spcPts val="7531"/>
              </a:lnSpc>
            </a:pPr>
            <a:r>
              <a:rPr lang="en-US" sz="5379">
                <a:solidFill>
                  <a:srgbClr val="000000"/>
                </a:solidFill>
                <a:latin typeface="Century Gothic Paneuropean"/>
                <a:ea typeface="Century Gothic Paneuropean"/>
                <a:cs typeface="Century Gothic Paneuropean"/>
                <a:sym typeface="Century Gothic Paneuropean"/>
              </a:rPr>
              <a:t>Lê Xuân Trung</a:t>
            </a:r>
          </a:p>
          <a:p>
            <a:pPr algn="ctr">
              <a:lnSpc>
                <a:spcPts val="7531"/>
              </a:lnSpc>
            </a:pPr>
            <a:r>
              <a:rPr lang="en-US" sz="5379">
                <a:solidFill>
                  <a:srgbClr val="000000"/>
                </a:solidFill>
                <a:latin typeface="Century Gothic Paneuropean"/>
                <a:ea typeface="Century Gothic Paneuropean"/>
                <a:cs typeface="Century Gothic Paneuropean"/>
                <a:sym typeface="Century Gothic Paneuropean"/>
              </a:rPr>
              <a:t>Lê Đại Nghĩa</a:t>
            </a:r>
          </a:p>
          <a:p>
            <a:pPr algn="ctr">
              <a:lnSpc>
                <a:spcPts val="7531"/>
              </a:lnSpc>
            </a:pPr>
            <a:r>
              <a:rPr lang="en-US" sz="5379">
                <a:solidFill>
                  <a:srgbClr val="000000"/>
                </a:solidFill>
                <a:latin typeface="Century Gothic Paneuropean"/>
                <a:ea typeface="Century Gothic Paneuropean"/>
                <a:cs typeface="Century Gothic Paneuropean"/>
                <a:sym typeface="Century Gothic Paneuropean"/>
              </a:rPr>
              <a:t>Trịnh Nguyễn Phi Hào</a:t>
            </a:r>
          </a:p>
        </p:txBody>
      </p:sp>
      <p:grpSp>
        <p:nvGrpSpPr>
          <p:cNvPr id="9" name="Group 9"/>
          <p:cNvGrpSpPr/>
          <p:nvPr/>
        </p:nvGrpSpPr>
        <p:grpSpPr>
          <a:xfrm>
            <a:off x="488343" y="-989670"/>
            <a:ext cx="1080715" cy="2956684"/>
            <a:chOff x="0" y="0"/>
            <a:chExt cx="284633" cy="778715"/>
          </a:xfrm>
        </p:grpSpPr>
        <p:sp>
          <p:nvSpPr>
            <p:cNvPr id="10" name="Freeform 10"/>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1" name="TextBox 11"/>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5600014" y="583600"/>
            <a:ext cx="7087973" cy="794950"/>
          </a:xfrm>
          <a:prstGeom prst="rect">
            <a:avLst/>
          </a:prstGeom>
        </p:spPr>
        <p:txBody>
          <a:bodyPr lIns="0" tIns="0" rIns="0" bIns="0" rtlCol="0" anchor="t">
            <a:spAutoFit/>
          </a:bodyPr>
          <a:lstStyle/>
          <a:p>
            <a:pPr algn="ctr">
              <a:lnSpc>
                <a:spcPts val="6527"/>
              </a:lnSpc>
              <a:spcBef>
                <a:spcPct val="0"/>
              </a:spcBef>
            </a:pPr>
            <a:r>
              <a:rPr lang="en-US" sz="4662">
                <a:solidFill>
                  <a:srgbClr val="000000"/>
                </a:solidFill>
                <a:latin typeface="Open Sans"/>
                <a:ea typeface="Open Sans"/>
                <a:cs typeface="Open Sans"/>
                <a:sym typeface="Open Sans"/>
              </a:rPr>
              <a:t>Thành viên nhóm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513159" y="43573"/>
            <a:ext cx="16362109" cy="794950"/>
          </a:xfrm>
          <a:prstGeom prst="rect">
            <a:avLst/>
          </a:prstGeom>
        </p:spPr>
        <p:txBody>
          <a:bodyPr lIns="0" tIns="0" rIns="0" bIns="0" rtlCol="0" anchor="t">
            <a:spAutoFit/>
          </a:bodyPr>
          <a:lstStyle/>
          <a:p>
            <a:pPr algn="ctr">
              <a:lnSpc>
                <a:spcPts val="6527"/>
              </a:lnSpc>
              <a:spcBef>
                <a:spcPct val="0"/>
              </a:spcBef>
            </a:pPr>
            <a:r>
              <a:rPr lang="en-US" sz="4662">
                <a:solidFill>
                  <a:srgbClr val="000000"/>
                </a:solidFill>
                <a:latin typeface="Open Sans"/>
                <a:ea typeface="Open Sans"/>
                <a:cs typeface="Open Sans"/>
                <a:sym typeface="Open Sans"/>
              </a:rPr>
              <a:t>Chương 9 : Phần mềm và kiến trúc thiết kế</a:t>
            </a:r>
          </a:p>
        </p:txBody>
      </p:sp>
      <p:sp>
        <p:nvSpPr>
          <p:cNvPr id="12" name="TextBox 12"/>
          <p:cNvSpPr txBox="1"/>
          <p:nvPr/>
        </p:nvSpPr>
        <p:spPr>
          <a:xfrm>
            <a:off x="1190536" y="1637561"/>
            <a:ext cx="16609121" cy="5688600"/>
          </a:xfrm>
          <a:prstGeom prst="rect">
            <a:avLst/>
          </a:prstGeom>
        </p:spPr>
        <p:txBody>
          <a:bodyPr lIns="0" tIns="0" rIns="0" bIns="0" rtlCol="0" anchor="t">
            <a:spAutoFit/>
          </a:bodyPr>
          <a:lstStyle/>
          <a:p>
            <a:pPr marL="872099" lvl="1" indent="-436049" algn="l">
              <a:lnSpc>
                <a:spcPts val="5655"/>
              </a:lnSpc>
              <a:buAutoNum type="arabicPeriod"/>
            </a:pPr>
            <a:r>
              <a:rPr lang="en-US" sz="4039">
                <a:solidFill>
                  <a:srgbClr val="000000"/>
                </a:solidFill>
                <a:latin typeface="Century Gothic Paneuropean"/>
                <a:ea typeface="Century Gothic Paneuropean"/>
                <a:cs typeface="Century Gothic Paneuropean"/>
                <a:sym typeface="Century Gothic Paneuropean"/>
              </a:rPr>
              <a:t>Quy trình thiết kế</a:t>
            </a:r>
          </a:p>
          <a:p>
            <a:pPr marL="872099" lvl="1" indent="-436049" algn="l">
              <a:lnSpc>
                <a:spcPts val="5655"/>
              </a:lnSpc>
              <a:buAutoNum type="arabicPeriod"/>
            </a:pPr>
            <a:r>
              <a:rPr lang="en-US" sz="4039">
                <a:solidFill>
                  <a:srgbClr val="000000"/>
                </a:solidFill>
                <a:latin typeface="Century Gothic Paneuropean"/>
                <a:ea typeface="Century Gothic Paneuropean"/>
                <a:cs typeface="Century Gothic Paneuropean"/>
                <a:sym typeface="Century Gothic Paneuropean"/>
              </a:rPr>
              <a:t>Nguyên tắc thiết kế tốt</a:t>
            </a:r>
          </a:p>
          <a:p>
            <a:pPr marL="872099" lvl="1" indent="-436049" algn="l">
              <a:lnSpc>
                <a:spcPts val="5655"/>
              </a:lnSpc>
              <a:buAutoNum type="arabicPeriod"/>
            </a:pPr>
            <a:r>
              <a:rPr lang="en-US" sz="4039">
                <a:solidFill>
                  <a:srgbClr val="000000"/>
                </a:solidFill>
                <a:latin typeface="Century Gothic Paneuropean"/>
                <a:ea typeface="Century Gothic Paneuropean"/>
                <a:cs typeface="Century Gothic Paneuropean"/>
                <a:sym typeface="Century Gothic Paneuropean"/>
              </a:rPr>
              <a:t>Kỹ thuật đưa ra quyết định thiết kế tốt</a:t>
            </a:r>
          </a:p>
          <a:p>
            <a:pPr marL="872099" lvl="1" indent="-436049" algn="l">
              <a:lnSpc>
                <a:spcPts val="5655"/>
              </a:lnSpc>
              <a:buAutoNum type="arabicPeriod"/>
            </a:pPr>
            <a:r>
              <a:rPr lang="en-US" sz="4039">
                <a:solidFill>
                  <a:srgbClr val="000000"/>
                </a:solidFill>
                <a:latin typeface="Century Gothic Paneuropean"/>
                <a:ea typeface="Century Gothic Paneuropean"/>
                <a:cs typeface="Century Gothic Paneuropean"/>
                <a:sym typeface="Century Gothic Paneuropean"/>
              </a:rPr>
              <a:t>Software Architecture (Kiến trúc phần mềm)</a:t>
            </a:r>
          </a:p>
          <a:p>
            <a:pPr marL="872099" lvl="1" indent="-436049" algn="l">
              <a:lnSpc>
                <a:spcPts val="5655"/>
              </a:lnSpc>
              <a:buAutoNum type="arabicPeriod"/>
            </a:pPr>
            <a:r>
              <a:rPr lang="en-US" sz="4039">
                <a:solidFill>
                  <a:srgbClr val="000000"/>
                </a:solidFill>
                <a:latin typeface="Century Gothic Paneuropean"/>
                <a:ea typeface="Century Gothic Paneuropean"/>
                <a:cs typeface="Century Gothic Paneuropean"/>
                <a:sym typeface="Century Gothic Paneuropean"/>
              </a:rPr>
              <a:t>Các mẫu kiến trúc</a:t>
            </a:r>
          </a:p>
          <a:p>
            <a:pPr marL="872099" lvl="1" indent="-436049" algn="l">
              <a:lnSpc>
                <a:spcPts val="5655"/>
              </a:lnSpc>
              <a:buAutoNum type="arabicPeriod"/>
            </a:pPr>
            <a:r>
              <a:rPr lang="en-US" sz="4039">
                <a:solidFill>
                  <a:srgbClr val="000000"/>
                </a:solidFill>
                <a:latin typeface="Century Gothic Paneuropean"/>
                <a:ea typeface="Century Gothic Paneuropean"/>
                <a:cs typeface="Century Gothic Paneuropean"/>
                <a:sym typeface="Century Gothic Paneuropean"/>
              </a:rPr>
              <a:t>Viết một tài liệu thiết kế tốt</a:t>
            </a:r>
          </a:p>
          <a:p>
            <a:pPr marL="872099" lvl="1" indent="-436049" algn="l">
              <a:lnSpc>
                <a:spcPts val="5655"/>
              </a:lnSpc>
              <a:buAutoNum type="arabicPeriod"/>
            </a:pPr>
            <a:r>
              <a:rPr lang="en-US" sz="4039">
                <a:solidFill>
                  <a:srgbClr val="000000"/>
                </a:solidFill>
                <a:latin typeface="Century Gothic Paneuropean"/>
                <a:ea typeface="Century Gothic Paneuropean"/>
                <a:cs typeface="Century Gothic Paneuropean"/>
                <a:sym typeface="Century Gothic Paneuropean"/>
              </a:rPr>
              <a:t>Thiết kế một tính năng của hệ thống SimpleChat</a:t>
            </a:r>
          </a:p>
          <a:p>
            <a:pPr marL="872099" lvl="1" indent="-436049" algn="l">
              <a:lnSpc>
                <a:spcPts val="5655"/>
              </a:lnSpc>
              <a:buAutoNum type="arabicPeriod"/>
            </a:pPr>
            <a:r>
              <a:rPr lang="en-US" sz="4039">
                <a:solidFill>
                  <a:srgbClr val="000000"/>
                </a:solidFill>
                <a:latin typeface="Century Gothic Paneuropean"/>
                <a:ea typeface="Century Gothic Paneuropean"/>
                <a:cs typeface="Century Gothic Paneuropean"/>
                <a:sym typeface="Century Gothic Paneuropean"/>
              </a:rPr>
              <a:t>Khó khăn và rủi ro trong thiết kế</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83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947782" y="4788966"/>
            <a:ext cx="16609121" cy="2116725"/>
          </a:xfrm>
          <a:prstGeom prst="rect">
            <a:avLst/>
          </a:prstGeom>
        </p:spPr>
        <p:txBody>
          <a:bodyPr lIns="0" tIns="0" rIns="0" bIns="0" rtlCol="0" anchor="t">
            <a:spAutoFit/>
          </a:bodyPr>
          <a:lstStyle/>
          <a:p>
            <a:pPr algn="l">
              <a:lnSpc>
                <a:spcPts val="5655"/>
              </a:lnSpc>
            </a:pPr>
            <a:r>
              <a:rPr lang="en-US" sz="4039">
                <a:solidFill>
                  <a:srgbClr val="000000"/>
                </a:solidFill>
                <a:latin typeface="Century Gothic Paneuropean"/>
                <a:ea typeface="Century Gothic Paneuropean"/>
                <a:cs typeface="Century Gothic Paneuropean"/>
                <a:sym typeface="Century Gothic Paneuropean"/>
              </a:rPr>
              <a:t>Thiết kế như một loạt các quyết định, để đưa ra quyết định thì kỹ sư sử dụng kiến thức về các yêu cầu, công nghệ có sẵn , nguyên tắc.</a:t>
            </a:r>
          </a:p>
        </p:txBody>
      </p:sp>
      <p:grpSp>
        <p:nvGrpSpPr>
          <p:cNvPr id="6" name="Group 6"/>
          <p:cNvGrpSpPr/>
          <p:nvPr/>
        </p:nvGrpSpPr>
        <p:grpSpPr>
          <a:xfrm>
            <a:off x="16718943" y="-989670"/>
            <a:ext cx="1080715" cy="2956684"/>
            <a:chOff x="0" y="0"/>
            <a:chExt cx="284633" cy="778715"/>
          </a:xfrm>
        </p:grpSpPr>
        <p:sp>
          <p:nvSpPr>
            <p:cNvPr id="7" name="Freeform 7"/>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8" name="TextBox 8"/>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947782" y="1347836"/>
            <a:ext cx="16851875" cy="3180605"/>
          </a:xfrm>
          <a:prstGeom prst="rect">
            <a:avLst/>
          </a:prstGeom>
        </p:spPr>
        <p:txBody>
          <a:bodyPr lIns="0" tIns="0" rIns="0" bIns="0" rtlCol="0" anchor="t">
            <a:spAutoFit/>
          </a:bodyPr>
          <a:lstStyle/>
          <a:p>
            <a:pPr algn="l">
              <a:lnSpc>
                <a:spcPts val="5089"/>
              </a:lnSpc>
            </a:pPr>
            <a:r>
              <a:rPr lang="en-US" sz="3635">
                <a:solidFill>
                  <a:srgbClr val="000000"/>
                </a:solidFill>
                <a:latin typeface="Century Gothic Paneuropean"/>
                <a:ea typeface="Century Gothic Paneuropean"/>
                <a:cs typeface="Century Gothic Paneuropean"/>
                <a:sym typeface="Century Gothic Paneuropean"/>
              </a:rPr>
              <a:t>Thiết kế là một quá trình giải quyết vấn đề với mục tiêu là tìm và mô tả một cách: </a:t>
            </a:r>
          </a:p>
          <a:p>
            <a:pPr marL="784898" lvl="1" indent="-392449" algn="l">
              <a:lnSpc>
                <a:spcPts val="5089"/>
              </a:lnSpc>
              <a:buFont typeface="Arial"/>
              <a:buChar char="•"/>
            </a:pPr>
            <a:r>
              <a:rPr lang="en-US" sz="3635">
                <a:solidFill>
                  <a:srgbClr val="000000"/>
                </a:solidFill>
                <a:latin typeface="Century Gothic Paneuropean"/>
                <a:ea typeface="Century Gothic Paneuropean"/>
                <a:cs typeface="Century Gothic Paneuropean"/>
                <a:sym typeface="Century Gothic Paneuropean"/>
              </a:rPr>
              <a:t>Để thực hiện các yêu cầu chức năng của hệ thống... </a:t>
            </a:r>
          </a:p>
          <a:p>
            <a:pPr marL="784898" lvl="1" indent="-392449" algn="l">
              <a:lnSpc>
                <a:spcPts val="5089"/>
              </a:lnSpc>
              <a:buFont typeface="Arial"/>
              <a:buChar char="•"/>
            </a:pPr>
            <a:r>
              <a:rPr lang="en-US" sz="3635">
                <a:solidFill>
                  <a:srgbClr val="000000"/>
                </a:solidFill>
                <a:latin typeface="Century Gothic Paneuropean"/>
                <a:ea typeface="Century Gothic Paneuropean"/>
                <a:cs typeface="Century Gothic Paneuropean"/>
                <a:sym typeface="Century Gothic Paneuropean"/>
              </a:rPr>
              <a:t>Tôn trọng các ràng buộc về chất lượng, nền tảng và quy trình,ngân sách.</a:t>
            </a:r>
          </a:p>
        </p:txBody>
      </p:sp>
      <p:grpSp>
        <p:nvGrpSpPr>
          <p:cNvPr id="10" name="Group 10"/>
          <p:cNvGrpSpPr/>
          <p:nvPr/>
        </p:nvGrpSpPr>
        <p:grpSpPr>
          <a:xfrm>
            <a:off x="-529352" y="9803843"/>
            <a:ext cx="19346704" cy="821917"/>
            <a:chOff x="0" y="0"/>
            <a:chExt cx="5095428" cy="216472"/>
          </a:xfrm>
        </p:grpSpPr>
        <p:sp>
          <p:nvSpPr>
            <p:cNvPr id="11" name="Freeform 11"/>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US"/>
            </a:p>
          </p:txBody>
        </p:sp>
        <p:sp>
          <p:nvSpPr>
            <p:cNvPr id="12" name="TextBox 12"/>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488343" y="48212"/>
            <a:ext cx="8560531"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1.QUY TRÌNH THIẾT KẾ</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219734" y="4687066"/>
            <a:ext cx="11848532" cy="3984069"/>
          </a:xfrm>
          <a:custGeom>
            <a:avLst/>
            <a:gdLst/>
            <a:ahLst/>
            <a:cxnLst/>
            <a:rect l="l" t="t" r="r" b="b"/>
            <a:pathLst>
              <a:path w="11848532" h="3984069">
                <a:moveTo>
                  <a:pt x="0" y="0"/>
                </a:moveTo>
                <a:lnTo>
                  <a:pt x="11848532" y="0"/>
                </a:lnTo>
                <a:lnTo>
                  <a:pt x="11848532" y="3984069"/>
                </a:lnTo>
                <a:lnTo>
                  <a:pt x="0" y="3984069"/>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917707" y="1198128"/>
            <a:ext cx="17174348" cy="3165087"/>
          </a:xfrm>
          <a:prstGeom prst="rect">
            <a:avLst/>
          </a:prstGeom>
        </p:spPr>
        <p:txBody>
          <a:bodyPr lIns="0" tIns="0" rIns="0" bIns="0" rtlCol="0" anchor="t">
            <a:spAutoFit/>
          </a:bodyPr>
          <a:lstStyle/>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Không gian thiết kế: toàn bộ các phương án thiết kế có thể có được tạo ra bằng cách chọn các phương án khác nhau tại mỗi quyết định thiết kế. </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ví dụ :Khi thiết kế phần mềm, mỗi lần bạn đứng trước một lựa chọn, thì: mỗi lựa chọn = 1 nhánh tổng hợp tất cả các nhánh lại = không gian thiết kế.</a:t>
            </a:r>
          </a:p>
        </p:txBody>
      </p:sp>
      <p:sp>
        <p:nvSpPr>
          <p:cNvPr id="13" name="TextBox 13"/>
          <p:cNvSpPr txBox="1"/>
          <p:nvPr/>
        </p:nvSpPr>
        <p:spPr>
          <a:xfrm>
            <a:off x="488343" y="-4225"/>
            <a:ext cx="8560531"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1.QUY TRÌNH THIẾT KẾ</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959732" y="1670943"/>
            <a:ext cx="16299568" cy="6403313"/>
          </a:xfrm>
          <a:prstGeom prst="rect">
            <a:avLst/>
          </a:prstGeom>
        </p:spPr>
        <p:txBody>
          <a:bodyPr lIns="0" tIns="0" rIns="0" bIns="0" rtlCol="0" anchor="t">
            <a:spAutoFit/>
          </a:bodyPr>
          <a:lstStyle/>
          <a:p>
            <a:pPr algn="just">
              <a:lnSpc>
                <a:spcPts val="5636"/>
              </a:lnSpc>
            </a:pPr>
            <a:r>
              <a:rPr lang="en-US" sz="4026">
                <a:solidFill>
                  <a:srgbClr val="000000"/>
                </a:solidFill>
                <a:latin typeface="Century Gothic Paneuropean"/>
                <a:ea typeface="Century Gothic Paneuropean"/>
                <a:cs typeface="Century Gothic Paneuropean"/>
                <a:sym typeface="Century Gothic Paneuropean"/>
              </a:rPr>
              <a:t>Thành phần : Mỗi hệ thống phần mềm hoặc phần cứng đều được cấu thành từ các thành phần (components). </a:t>
            </a:r>
          </a:p>
          <a:p>
            <a:pPr marL="869225" lvl="1" indent="-434612" algn="just">
              <a:lnSpc>
                <a:spcPts val="5636"/>
              </a:lnSpc>
              <a:buFont typeface="Arial"/>
              <a:buChar char="•"/>
            </a:pPr>
            <a:r>
              <a:rPr lang="en-US" sz="4026">
                <a:solidFill>
                  <a:srgbClr val="000000"/>
                </a:solidFill>
                <a:latin typeface="Century Gothic Paneuropean"/>
                <a:ea typeface="Century Gothic Paneuropean"/>
                <a:cs typeface="Century Gothic Paneuropean"/>
                <a:sym typeface="Century Gothic Paneuropean"/>
              </a:rPr>
              <a:t>Mỗi component có một vai trò (responsibility) riêng biệt, được cô lập thông qua các giao diện rõ ràng và có khả năng được thay thế bằng component khác có chức năng tương đương.</a:t>
            </a:r>
          </a:p>
          <a:p>
            <a:pPr marL="869225" lvl="1" indent="-434612" algn="just">
              <a:lnSpc>
                <a:spcPts val="5636"/>
              </a:lnSpc>
              <a:buFont typeface="Arial"/>
              <a:buChar char="•"/>
            </a:pPr>
            <a:r>
              <a:rPr lang="en-US" sz="4026">
                <a:solidFill>
                  <a:srgbClr val="000000"/>
                </a:solidFill>
                <a:latin typeface="Century Gothic Paneuropean"/>
                <a:ea typeface="Century Gothic Paneuropean"/>
                <a:cs typeface="Century Gothic Paneuropean"/>
                <a:sym typeface="Century Gothic Paneuropean"/>
              </a:rPr>
              <a:t>Module: là 1 thành phần, được xác định ở cấp độ ngôn ngữu lập trình.</a:t>
            </a:r>
          </a:p>
          <a:p>
            <a:pPr algn="just">
              <a:lnSpc>
                <a:spcPts val="5636"/>
              </a:lnSpc>
            </a:pPr>
            <a:endParaRPr lang="en-US" sz="4026">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8350"/>
            <a:ext cx="8560531"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1.QUY TRÌNH THIẾT KẾ</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2937186" y="5579705"/>
            <a:ext cx="13356079" cy="3288934"/>
          </a:xfrm>
          <a:custGeom>
            <a:avLst/>
            <a:gdLst/>
            <a:ahLst/>
            <a:cxnLst/>
            <a:rect l="l" t="t" r="r" b="b"/>
            <a:pathLst>
              <a:path w="13356079" h="3288934">
                <a:moveTo>
                  <a:pt x="0" y="0"/>
                </a:moveTo>
                <a:lnTo>
                  <a:pt x="13356078" y="0"/>
                </a:lnTo>
                <a:lnTo>
                  <a:pt x="13356078" y="3288935"/>
                </a:lnTo>
                <a:lnTo>
                  <a:pt x="0" y="3288935"/>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1028700" y="1267641"/>
            <a:ext cx="17173050" cy="3376861"/>
          </a:xfrm>
          <a:prstGeom prst="rect">
            <a:avLst/>
          </a:prstGeom>
        </p:spPr>
        <p:txBody>
          <a:bodyPr lIns="0" tIns="0" rIns="0" bIns="0" rtlCol="0" anchor="t">
            <a:spAutoFit/>
          </a:bodyPr>
          <a:lstStyle/>
          <a:p>
            <a:pPr algn="l">
              <a:lnSpc>
                <a:spcPts val="5421"/>
              </a:lnSpc>
            </a:pPr>
            <a:r>
              <a:rPr lang="en-US" sz="3872">
                <a:solidFill>
                  <a:srgbClr val="000000"/>
                </a:solidFill>
                <a:latin typeface="Century Gothic Paneuropean"/>
                <a:ea typeface="Century Gothic Paneuropean"/>
                <a:cs typeface="Century Gothic Paneuropean"/>
                <a:sym typeface="Century Gothic Paneuropean"/>
              </a:rPr>
              <a:t>Hệ thống (system): là 1 tập hợp trách nhiệm có thể xác định được bao gồm phần cứng, mềm hoặc cả 2 </a:t>
            </a:r>
          </a:p>
          <a:p>
            <a:pPr marL="836012" lvl="1" indent="-418006" algn="l">
              <a:lnSpc>
                <a:spcPts val="5421"/>
              </a:lnSpc>
              <a:buFont typeface="Arial"/>
              <a:buChar char="•"/>
            </a:pPr>
            <a:r>
              <a:rPr lang="en-US" sz="3872">
                <a:solidFill>
                  <a:srgbClr val="000000"/>
                </a:solidFill>
                <a:latin typeface="Century Gothic Paneuropean"/>
                <a:ea typeface="Century Gothic Paneuropean"/>
                <a:cs typeface="Century Gothic Paneuropean"/>
                <a:sym typeface="Century Gothic Paneuropean"/>
              </a:rPr>
              <a:t>1 hệ thống có 1 tập hợp các thành phần.</a:t>
            </a:r>
          </a:p>
          <a:p>
            <a:pPr marL="836012" lvl="1" indent="-418006" algn="l">
              <a:lnSpc>
                <a:spcPts val="5421"/>
              </a:lnSpc>
              <a:buFont typeface="Arial"/>
              <a:buChar char="•"/>
            </a:pPr>
            <a:r>
              <a:rPr lang="en-US" sz="3872">
                <a:solidFill>
                  <a:srgbClr val="000000"/>
                </a:solidFill>
                <a:latin typeface="Century Gothic Paneuropean"/>
                <a:ea typeface="Century Gothic Paneuropean"/>
                <a:cs typeface="Century Gothic Paneuropean"/>
                <a:sym typeface="Century Gothic Paneuropean"/>
              </a:rPr>
              <a:t>Vẫn tồn tại khi thành phần bị thay đổi.</a:t>
            </a:r>
          </a:p>
          <a:p>
            <a:pPr marL="836012" lvl="1" indent="-418006" algn="l">
              <a:lnSpc>
                <a:spcPts val="5421"/>
              </a:lnSpc>
              <a:buFont typeface="Arial"/>
              <a:buChar char="•"/>
            </a:pPr>
            <a:r>
              <a:rPr lang="en-US" sz="3872">
                <a:solidFill>
                  <a:srgbClr val="000000"/>
                </a:solidFill>
                <a:latin typeface="Century Gothic Paneuropean"/>
                <a:ea typeface="Century Gothic Paneuropean"/>
                <a:cs typeface="Century Gothic Paneuropean"/>
                <a:sym typeface="Century Gothic Paneuropean"/>
              </a:rPr>
              <a:t>hệ thống con là 1 phần của hệ thống lớn.</a:t>
            </a:r>
          </a:p>
        </p:txBody>
      </p:sp>
      <p:sp>
        <p:nvSpPr>
          <p:cNvPr id="13" name="TextBox 13"/>
          <p:cNvSpPr txBox="1"/>
          <p:nvPr/>
        </p:nvSpPr>
        <p:spPr>
          <a:xfrm>
            <a:off x="488343" y="-95250"/>
            <a:ext cx="8560531"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1.QUY TRÌNH THIẾT KẾ</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41601" y="1261843"/>
            <a:ext cx="15341422" cy="10602652"/>
          </a:xfrm>
          <a:prstGeom prst="rect">
            <a:avLst/>
          </a:prstGeom>
        </p:spPr>
        <p:txBody>
          <a:bodyPr lIns="0" tIns="0" rIns="0" bIns="0" rtlCol="0" anchor="t">
            <a:spAutoFit/>
          </a:bodyPr>
          <a:lstStyle/>
          <a:p>
            <a:pPr marL="717381" lvl="1" indent="-358691" algn="just">
              <a:lnSpc>
                <a:spcPts val="4651"/>
              </a:lnSpc>
              <a:buFont typeface="Arial"/>
              <a:buChar char="•"/>
            </a:pPr>
            <a:r>
              <a:rPr lang="en-US" sz="3322">
                <a:solidFill>
                  <a:srgbClr val="000000"/>
                </a:solidFill>
                <a:latin typeface="Century Gothic Paneuropean"/>
                <a:ea typeface="Century Gothic Paneuropean"/>
                <a:cs typeface="Century Gothic Paneuropean"/>
                <a:sym typeface="Century Gothic Paneuropean"/>
              </a:rPr>
              <a:t>Top-down design: Bắt đầu từ bức tranh tổng thể của hệ thống Sau đó chia nhỏ dần thành: subsystem component...</a:t>
            </a:r>
          </a:p>
          <a:p>
            <a:pPr marL="717381" lvl="1" indent="-358691" algn="l">
              <a:lnSpc>
                <a:spcPts val="4651"/>
              </a:lnSpc>
              <a:buFont typeface="Arial"/>
              <a:buChar char="•"/>
            </a:pPr>
            <a:r>
              <a:rPr lang="en-US" sz="3322">
                <a:solidFill>
                  <a:srgbClr val="000000"/>
                </a:solidFill>
                <a:latin typeface="Century Gothic Paneuropean"/>
                <a:ea typeface="Century Gothic Paneuropean"/>
                <a:cs typeface="Century Gothic Paneuropean"/>
                <a:sym typeface="Century Gothic Paneuropean"/>
              </a:rPr>
              <a:t>Bottom-up design: Bắt đầu từ những thành phần nhỏ, tái sử dụng Sau đó kết hợp dần thành component lớn.</a:t>
            </a:r>
          </a:p>
          <a:p>
            <a:pPr marL="717381" lvl="1" indent="-358691" algn="l">
              <a:lnSpc>
                <a:spcPts val="4651"/>
              </a:lnSpc>
              <a:buFont typeface="Arial"/>
              <a:buChar char="•"/>
            </a:pPr>
            <a:r>
              <a:rPr lang="en-US" sz="3322">
                <a:solidFill>
                  <a:srgbClr val="000000"/>
                </a:solidFill>
                <a:latin typeface="Century Gothic Paneuropean"/>
                <a:ea typeface="Century Gothic Paneuropean"/>
                <a:cs typeface="Century Gothic Paneuropean"/>
                <a:sym typeface="Century Gothic Paneuropean"/>
              </a:rPr>
              <a:t>kết hợp :Top-down quyết định hệ thống sẽ trông như thế nào Bottom-up quyết định hệ thống có dùng được lâu hay không Thiết kế tốt luôn cần cả hai .</a:t>
            </a:r>
          </a:p>
          <a:p>
            <a:pPr marL="717381" lvl="1" indent="-358691" algn="l">
              <a:lnSpc>
                <a:spcPts val="4651"/>
              </a:lnSpc>
              <a:buFont typeface="Arial"/>
              <a:buChar char="•"/>
            </a:pPr>
            <a:r>
              <a:rPr lang="en-US" sz="3322">
                <a:solidFill>
                  <a:srgbClr val="000000"/>
                </a:solidFill>
                <a:latin typeface="Century Gothic Paneuropean"/>
                <a:ea typeface="Century Gothic Paneuropean"/>
                <a:cs typeface="Century Gothic Paneuropean"/>
                <a:sym typeface="Century Gothic Paneuropean"/>
              </a:rPr>
              <a:t>Các khía cạnh khác của thiết kế : </a:t>
            </a:r>
          </a:p>
          <a:p>
            <a:pPr marL="717381" lvl="1" indent="-358691" algn="l">
              <a:lnSpc>
                <a:spcPts val="4651"/>
              </a:lnSpc>
              <a:buAutoNum type="arabicPeriod"/>
            </a:pPr>
            <a:r>
              <a:rPr lang="en-US" sz="3322">
                <a:solidFill>
                  <a:srgbClr val="000000"/>
                </a:solidFill>
                <a:latin typeface="Century Gothic Paneuropean"/>
                <a:ea typeface="Century Gothic Paneuropean"/>
                <a:cs typeface="Century Gothic Paneuropean"/>
                <a:sym typeface="Century Gothic Paneuropean"/>
              </a:rPr>
              <a:t>Hệ thống được chia thành những phần lớn nào và chúng phối hợp với nhau ra sao? </a:t>
            </a:r>
          </a:p>
          <a:p>
            <a:pPr marL="717381" lvl="1" indent="-358691" algn="l">
              <a:lnSpc>
                <a:spcPts val="4651"/>
              </a:lnSpc>
              <a:buAutoNum type="arabicPeriod"/>
            </a:pPr>
            <a:r>
              <a:rPr lang="en-US" sz="3322">
                <a:solidFill>
                  <a:srgbClr val="000000"/>
                </a:solidFill>
                <a:latin typeface="Century Gothic Paneuropean"/>
                <a:ea typeface="Century Gothic Paneuropean"/>
                <a:cs typeface="Century Gothic Paneuropean"/>
                <a:sym typeface="Century Gothic Paneuropean"/>
              </a:rPr>
              <a:t>Mỗi class có thuộc tính gì, phương thức gì, quan hệ với class khác ra sao? </a:t>
            </a:r>
          </a:p>
          <a:p>
            <a:pPr marL="717381" lvl="1" indent="-358691" algn="l">
              <a:lnSpc>
                <a:spcPts val="4651"/>
              </a:lnSpc>
              <a:buAutoNum type="arabicPeriod"/>
            </a:pPr>
            <a:r>
              <a:rPr lang="en-US" sz="3322">
                <a:solidFill>
                  <a:srgbClr val="000000"/>
                </a:solidFill>
                <a:latin typeface="Century Gothic Paneuropean"/>
                <a:ea typeface="Century Gothic Paneuropean"/>
                <a:cs typeface="Century Gothic Paneuropean"/>
                <a:sym typeface="Century Gothic Paneuropean"/>
              </a:rPr>
              <a:t>Người dùng tương tác với hệ thống như thế nào? +Bên trong hệ thống xử lý dữ liệu như thế nào?</a:t>
            </a:r>
          </a:p>
          <a:p>
            <a:pPr algn="ctr">
              <a:lnSpc>
                <a:spcPts val="4651"/>
              </a:lnSpc>
            </a:pPr>
            <a:endParaRPr lang="en-US" sz="3322">
              <a:solidFill>
                <a:srgbClr val="000000"/>
              </a:solidFill>
              <a:latin typeface="Century Gothic Paneuropean"/>
              <a:ea typeface="Century Gothic Paneuropean"/>
              <a:cs typeface="Century Gothic Paneuropean"/>
              <a:sym typeface="Century Gothic Paneuropean"/>
            </a:endParaRPr>
          </a:p>
          <a:p>
            <a:pPr algn="ctr">
              <a:lnSpc>
                <a:spcPts val="4651"/>
              </a:lnSpc>
            </a:pPr>
            <a:endParaRPr lang="en-US" sz="3322">
              <a:solidFill>
                <a:srgbClr val="000000"/>
              </a:solidFill>
              <a:latin typeface="Century Gothic Paneuropean"/>
              <a:ea typeface="Century Gothic Paneuropean"/>
              <a:cs typeface="Century Gothic Paneuropean"/>
              <a:sym typeface="Century Gothic Paneuropean"/>
            </a:endParaRPr>
          </a:p>
          <a:p>
            <a:pPr algn="ctr">
              <a:lnSpc>
                <a:spcPts val="4651"/>
              </a:lnSpc>
            </a:pPr>
            <a:r>
              <a:rPr lang="en-US" sz="3322">
                <a:solidFill>
                  <a:srgbClr val="000000"/>
                </a:solidFill>
                <a:latin typeface="Century Gothic Paneuropean"/>
                <a:ea typeface="Century Gothic Paneuropean"/>
                <a:cs typeface="Century Gothic Paneuropean"/>
                <a:sym typeface="Century Gothic Paneuropean"/>
              </a:rPr>
              <a:t>+Các thành phần trao đổi dữ liệu theo luật nào?</a:t>
            </a:r>
          </a:p>
          <a:p>
            <a:pPr algn="ctr">
              <a:lnSpc>
                <a:spcPts val="4651"/>
              </a:lnSpc>
            </a:pPr>
            <a:endParaRPr lang="en-US" sz="3322">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95250"/>
            <a:ext cx="8560531"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1.QUY TRÌNH THIẾT KẾ</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488343" y="1291176"/>
            <a:ext cx="16976401" cy="8515448"/>
          </a:xfrm>
          <a:prstGeom prst="rect">
            <a:avLst/>
          </a:prstGeom>
        </p:spPr>
        <p:txBody>
          <a:bodyPr lIns="0" tIns="0" rIns="0" bIns="0" rtlCol="0" anchor="t">
            <a:spAutoFit/>
          </a:bodyPr>
          <a:lstStyle/>
          <a:p>
            <a:pPr marL="808796" lvl="1" indent="-404398" algn="l">
              <a:lnSpc>
                <a:spcPts val="5244"/>
              </a:lnSpc>
              <a:buFont typeface="Arial"/>
              <a:buChar char="•"/>
            </a:pPr>
            <a:r>
              <a:rPr lang="en-US" sz="3746" b="1">
                <a:solidFill>
                  <a:srgbClr val="000000"/>
                </a:solidFill>
                <a:latin typeface="Century Gothic Paneuropean Bold"/>
                <a:ea typeface="Century Gothic Paneuropean Bold"/>
                <a:cs typeface="Century Gothic Paneuropean Bold"/>
                <a:sym typeface="Century Gothic Paneuropean Bold"/>
              </a:rPr>
              <a:t>Nguyên tắc 1:</a:t>
            </a:r>
            <a:r>
              <a:rPr lang="en-US" sz="3746">
                <a:solidFill>
                  <a:srgbClr val="000000"/>
                </a:solidFill>
                <a:latin typeface="Century Gothic Paneuropean"/>
                <a:ea typeface="Century Gothic Paneuropean"/>
                <a:cs typeface="Century Gothic Paneuropean"/>
                <a:sym typeface="Century Gothic Paneuropean"/>
              </a:rPr>
              <a:t> nên chia nhỏ vấn đề ra , những người riêng biệt có thể làm việc trên từng bộ phận.</a:t>
            </a:r>
          </a:p>
          <a:p>
            <a:pPr marL="808796" lvl="1" indent="-404398" algn="l">
              <a:lnSpc>
                <a:spcPts val="5244"/>
              </a:lnSpc>
              <a:buFont typeface="Arial"/>
              <a:buChar char="•"/>
            </a:pPr>
            <a:r>
              <a:rPr lang="en-US" sz="3746" b="1">
                <a:solidFill>
                  <a:srgbClr val="000000"/>
                </a:solidFill>
                <a:latin typeface="Century Gothic Paneuropean Bold"/>
                <a:ea typeface="Century Gothic Paneuropean Bold"/>
                <a:cs typeface="Century Gothic Paneuropean Bold"/>
                <a:sym typeface="Century Gothic Paneuropean Bold"/>
              </a:rPr>
              <a:t>Nguyên tắc 2:</a:t>
            </a:r>
            <a:r>
              <a:rPr lang="en-US" sz="3746">
                <a:solidFill>
                  <a:srgbClr val="000000"/>
                </a:solidFill>
                <a:latin typeface="Century Gothic Paneuropean"/>
                <a:ea typeface="Century Gothic Paneuropean"/>
                <a:cs typeface="Century Gothic Paneuropean"/>
                <a:sym typeface="Century Gothic Paneuropean"/>
              </a:rPr>
              <a:t> tăng sự gắn kết nếu có thể : Một hệ thống con hoặc mô-đun có tính gắn kết cao nếu nó giữ những thứ liên quan đến nhau và loại bỏ những thứ khác.</a:t>
            </a:r>
          </a:p>
          <a:p>
            <a:pPr marL="808796" lvl="1" indent="-404398" algn="l">
              <a:lnSpc>
                <a:spcPts val="5244"/>
              </a:lnSpc>
              <a:buFont typeface="Arial"/>
              <a:buChar char="•"/>
            </a:pPr>
            <a:r>
              <a:rPr lang="en-US" sz="3746" b="1">
                <a:solidFill>
                  <a:srgbClr val="000000"/>
                </a:solidFill>
                <a:latin typeface="Century Gothic Paneuropean Bold"/>
                <a:ea typeface="Century Gothic Paneuropean Bold"/>
                <a:cs typeface="Century Gothic Paneuropean Bold"/>
                <a:sym typeface="Century Gothic Paneuropean Bold"/>
              </a:rPr>
              <a:t>Nguyên tắc 3:</a:t>
            </a:r>
            <a:r>
              <a:rPr lang="en-US" sz="3746">
                <a:solidFill>
                  <a:srgbClr val="000000"/>
                </a:solidFill>
                <a:latin typeface="Century Gothic Paneuropean"/>
                <a:ea typeface="Century Gothic Paneuropean"/>
                <a:cs typeface="Century Gothic Paneuropean"/>
                <a:sym typeface="Century Gothic Paneuropean"/>
              </a:rPr>
              <a:t> Giảm khớp nối nếu có thể,Coupling xảy ra khi một module phụ thuộc vào module khác; coupling càng cao thì sửa một chỗ càng dễ làm hỏng chỗ khác.</a:t>
            </a:r>
          </a:p>
          <a:p>
            <a:pPr marL="808796" lvl="1" indent="-404398" algn="l">
              <a:lnSpc>
                <a:spcPts val="5244"/>
              </a:lnSpc>
              <a:buFont typeface="Arial"/>
              <a:buChar char="•"/>
            </a:pPr>
            <a:r>
              <a:rPr lang="en-US" sz="3746" b="1">
                <a:solidFill>
                  <a:srgbClr val="000000"/>
                </a:solidFill>
                <a:latin typeface="Century Gothic Paneuropean Bold"/>
                <a:ea typeface="Century Gothic Paneuropean Bold"/>
                <a:cs typeface="Century Gothic Paneuropean Bold"/>
                <a:sym typeface="Century Gothic Paneuropean Bold"/>
              </a:rPr>
              <a:t>Nguyên tắc 4:</a:t>
            </a:r>
            <a:r>
              <a:rPr lang="en-US" sz="3746">
                <a:solidFill>
                  <a:srgbClr val="000000"/>
                </a:solidFill>
                <a:latin typeface="Century Gothic Paneuropean"/>
                <a:ea typeface="Century Gothic Paneuropean"/>
                <a:cs typeface="Century Gothic Paneuropean"/>
                <a:sym typeface="Century Gothic Paneuropean"/>
              </a:rPr>
              <a:t> Giữ mức độ trừu tượng càng cao càng tốt,Thiết kế tốt là che giấu chi tiết không cần thiết (information hiding), chỉ cho người dùng hoặc module khác thấy “bản chất” của chức năng, nhờ đó giảm độ phức tạp, Giữ mức trừu tượng cao giúp che giấu chi tiết cài đặt.</a:t>
            </a:r>
          </a:p>
        </p:txBody>
      </p:sp>
      <p:sp>
        <p:nvSpPr>
          <p:cNvPr id="12" name="TextBox 12"/>
          <p:cNvSpPr txBox="1"/>
          <p:nvPr/>
        </p:nvSpPr>
        <p:spPr>
          <a:xfrm>
            <a:off x="488343" y="152360"/>
            <a:ext cx="11036635"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2.NGUYÊN TẮC THIẾT KẾ TỐT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678323" y="1468576"/>
            <a:ext cx="17429597" cy="7632312"/>
          </a:xfrm>
          <a:prstGeom prst="rect">
            <a:avLst/>
          </a:prstGeom>
        </p:spPr>
        <p:txBody>
          <a:bodyPr lIns="0" tIns="0" rIns="0" bIns="0" rtlCol="0" anchor="t">
            <a:spAutoFit/>
          </a:bodyPr>
          <a:lstStyle/>
          <a:p>
            <a:pPr marL="785932" lvl="1" indent="-392966" algn="l">
              <a:lnSpc>
                <a:spcPts val="5096"/>
              </a:lnSpc>
              <a:buFont typeface="Arial"/>
              <a:buChar char="•"/>
            </a:pPr>
            <a:r>
              <a:rPr lang="en-US" sz="3640" b="1">
                <a:solidFill>
                  <a:srgbClr val="000000"/>
                </a:solidFill>
                <a:latin typeface="Century Gothic Paneuropean Bold"/>
                <a:ea typeface="Century Gothic Paneuropean Bold"/>
                <a:cs typeface="Century Gothic Paneuropean Bold"/>
                <a:sym typeface="Century Gothic Paneuropean Bold"/>
              </a:rPr>
              <a:t>Nguyên tắc 5:</a:t>
            </a:r>
            <a:r>
              <a:rPr lang="en-US" sz="3640">
                <a:solidFill>
                  <a:srgbClr val="000000"/>
                </a:solidFill>
                <a:latin typeface="Century Gothic Paneuropean"/>
                <a:ea typeface="Century Gothic Paneuropean"/>
                <a:cs typeface="Century Gothic Paneuropean"/>
                <a:sym typeface="Century Gothic Paneuropean"/>
              </a:rPr>
              <a:t> Tăng khả năng tái sử dụng nếu có thể :Thiết kế hệ thống sao cho các thành phần có thể dùng lại trong nhiều bối cảnh khác nhau, bằng cách tổng quát hóa, giảm phụ thuộc và giữ thiết kế đơn giản.</a:t>
            </a:r>
          </a:p>
          <a:p>
            <a:pPr marL="785932" lvl="1" indent="-392966" algn="l">
              <a:lnSpc>
                <a:spcPts val="5096"/>
              </a:lnSpc>
              <a:buFont typeface="Arial"/>
              <a:buChar char="•"/>
            </a:pPr>
            <a:r>
              <a:rPr lang="en-US" sz="3640" b="1">
                <a:solidFill>
                  <a:srgbClr val="000000"/>
                </a:solidFill>
                <a:latin typeface="Century Gothic Paneuropean Bold"/>
                <a:ea typeface="Century Gothic Paneuropean Bold"/>
                <a:cs typeface="Century Gothic Paneuropean Bold"/>
                <a:sym typeface="Century Gothic Paneuropean Bold"/>
              </a:rPr>
              <a:t>Nguyên tắc 6:</a:t>
            </a:r>
            <a:r>
              <a:rPr lang="en-US" sz="3640">
                <a:solidFill>
                  <a:srgbClr val="000000"/>
                </a:solidFill>
                <a:latin typeface="Century Gothic Paneuropean"/>
                <a:ea typeface="Century Gothic Paneuropean"/>
                <a:cs typeface="Century Gothic Paneuropean"/>
                <a:sym typeface="Century Gothic Paneuropean"/>
              </a:rPr>
              <a:t> Sử dụng lại các thiết kế và mã hiện có nếu có thể Thiết kế với tái sử dụng là chủ động dùng lại thiết kế và code có sẵn để tận dụng đầu tư.</a:t>
            </a:r>
          </a:p>
          <a:p>
            <a:pPr marL="785932" lvl="1" indent="-392966" algn="l">
              <a:lnSpc>
                <a:spcPts val="5096"/>
              </a:lnSpc>
              <a:buFont typeface="Arial"/>
              <a:buChar char="•"/>
            </a:pPr>
            <a:r>
              <a:rPr lang="en-US" sz="3640" b="1">
                <a:solidFill>
                  <a:srgbClr val="000000"/>
                </a:solidFill>
                <a:latin typeface="Century Gothic Paneuropean Bold"/>
                <a:ea typeface="Century Gothic Paneuropean Bold"/>
                <a:cs typeface="Century Gothic Paneuropean Bold"/>
                <a:sym typeface="Century Gothic Paneuropean Bold"/>
              </a:rPr>
              <a:t>Nguyên tắc 7:</a:t>
            </a:r>
            <a:r>
              <a:rPr lang="en-US" sz="3640">
                <a:solidFill>
                  <a:srgbClr val="000000"/>
                </a:solidFill>
                <a:latin typeface="Century Gothic Paneuropean"/>
                <a:ea typeface="Century Gothic Paneuropean"/>
                <a:cs typeface="Century Gothic Paneuropean"/>
                <a:sym typeface="Century Gothic Paneuropean"/>
              </a:rPr>
              <a:t> Thiết kế linh hoạt là dự đoán những thay đổi trong tương lai và chuẩn bị sẵn để hệ thống có thể thay đổi mà không phải sửa nhiều chỗ.</a:t>
            </a:r>
          </a:p>
          <a:p>
            <a:pPr marL="785932" lvl="1" indent="-392966" algn="l">
              <a:lnSpc>
                <a:spcPts val="5096"/>
              </a:lnSpc>
              <a:buFont typeface="Arial"/>
              <a:buChar char="•"/>
            </a:pPr>
            <a:r>
              <a:rPr lang="en-US" sz="3640" b="1">
                <a:solidFill>
                  <a:srgbClr val="000000"/>
                </a:solidFill>
                <a:latin typeface="Century Gothic Paneuropean Bold"/>
                <a:ea typeface="Century Gothic Paneuropean Bold"/>
                <a:cs typeface="Century Gothic Paneuropean Bold"/>
                <a:sym typeface="Century Gothic Paneuropean Bold"/>
              </a:rPr>
              <a:t>Nguyên tắc 8:</a:t>
            </a:r>
            <a:r>
              <a:rPr lang="en-US" sz="3640">
                <a:solidFill>
                  <a:srgbClr val="000000"/>
                </a:solidFill>
                <a:latin typeface="Century Gothic Paneuropean"/>
                <a:ea typeface="Century Gothic Paneuropean"/>
                <a:cs typeface="Century Gothic Paneuropean"/>
                <a:sym typeface="Century Gothic Paneuropean"/>
              </a:rPr>
              <a:t> Dự đoán lỗi thời là thiết kế phần mềm để tồn tại lâu dài bằng cách tránh công nghệ rủi ro và ưu tiên các chuẩn phổ biến, được nhiều nhà cung cấp hỗ trợ.</a:t>
            </a:r>
          </a:p>
        </p:txBody>
      </p:sp>
      <p:sp>
        <p:nvSpPr>
          <p:cNvPr id="12" name="TextBox 12"/>
          <p:cNvSpPr txBox="1"/>
          <p:nvPr/>
        </p:nvSpPr>
        <p:spPr>
          <a:xfrm>
            <a:off x="488343" y="152360"/>
            <a:ext cx="11036635"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2.NGUYÊN TẮC THIẾT KẾ TỐT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678323" y="1468576"/>
            <a:ext cx="17429597" cy="6355962"/>
          </a:xfrm>
          <a:prstGeom prst="rect">
            <a:avLst/>
          </a:prstGeom>
        </p:spPr>
        <p:txBody>
          <a:bodyPr lIns="0" tIns="0" rIns="0" bIns="0" rtlCol="0" anchor="t">
            <a:spAutoFit/>
          </a:bodyPr>
          <a:lstStyle/>
          <a:p>
            <a:pPr marL="785932" lvl="1" indent="-392966" algn="l">
              <a:lnSpc>
                <a:spcPts val="5096"/>
              </a:lnSpc>
              <a:buFont typeface="Arial"/>
              <a:buChar char="•"/>
            </a:pPr>
            <a:r>
              <a:rPr lang="en-US" sz="3640" b="1">
                <a:solidFill>
                  <a:srgbClr val="000000"/>
                </a:solidFill>
                <a:latin typeface="Century Gothic Paneuropean Bold"/>
                <a:ea typeface="Century Gothic Paneuropean Bold"/>
                <a:cs typeface="Century Gothic Paneuropean Bold"/>
                <a:sym typeface="Century Gothic Paneuropean Bold"/>
              </a:rPr>
              <a:t>Nguyên tắc 9: </a:t>
            </a:r>
            <a:r>
              <a:rPr lang="en-US" sz="3640">
                <a:solidFill>
                  <a:srgbClr val="000000"/>
                </a:solidFill>
                <a:latin typeface="Century Gothic Paneuropean"/>
                <a:ea typeface="Century Gothic Paneuropean"/>
                <a:cs typeface="Century Gothic Paneuropean"/>
                <a:sym typeface="Century Gothic Paneuropean"/>
              </a:rPr>
              <a:t>Thiết kế cho tính di động (Design for portability) là thiết kế phần mềm sao cho có thể chạy trên nhiều nền tảng khác nhau, bằng cách tránh phụ thuộc vào các tính năng hay thư viện chỉ có ở một môi trường cụ thể.</a:t>
            </a:r>
          </a:p>
          <a:p>
            <a:pPr marL="785932" lvl="1" indent="-392966" algn="l">
              <a:lnSpc>
                <a:spcPts val="5096"/>
              </a:lnSpc>
              <a:buFont typeface="Arial"/>
              <a:buChar char="•"/>
            </a:pPr>
            <a:r>
              <a:rPr lang="en-US" sz="3640" b="1">
                <a:solidFill>
                  <a:srgbClr val="000000"/>
                </a:solidFill>
                <a:latin typeface="Century Gothic Paneuropean Bold"/>
                <a:ea typeface="Century Gothic Paneuropean Bold"/>
                <a:cs typeface="Century Gothic Paneuropean Bold"/>
                <a:sym typeface="Century Gothic Paneuropean Bold"/>
              </a:rPr>
              <a:t>Nguyên tắc 10: </a:t>
            </a:r>
            <a:r>
              <a:rPr lang="en-US" sz="3640">
                <a:solidFill>
                  <a:srgbClr val="000000"/>
                </a:solidFill>
                <a:latin typeface="Century Gothic Paneuropean"/>
                <a:ea typeface="Century Gothic Paneuropean"/>
                <a:cs typeface="Century Gothic Paneuropean"/>
                <a:sym typeface="Century Gothic Paneuropean"/>
              </a:rPr>
              <a:t>Thiết kế cho khả năng kiểm tra (Design for testability) là thiết kế hệ thống sao cho mọi chức năng có thể được kiểm thử tự động, không phụ thuộc vào giao diện người dùng.</a:t>
            </a:r>
          </a:p>
          <a:p>
            <a:pPr marL="785932" lvl="1" indent="-392966" algn="l">
              <a:lnSpc>
                <a:spcPts val="5096"/>
              </a:lnSpc>
              <a:buFont typeface="Arial"/>
              <a:buChar char="•"/>
            </a:pPr>
            <a:r>
              <a:rPr lang="en-US" sz="3640" b="1">
                <a:solidFill>
                  <a:srgbClr val="000000"/>
                </a:solidFill>
                <a:latin typeface="Century Gothic Paneuropean Bold"/>
                <a:ea typeface="Century Gothic Paneuropean Bold"/>
                <a:cs typeface="Century Gothic Paneuropean Bold"/>
                <a:sym typeface="Century Gothic Paneuropean Bold"/>
              </a:rPr>
              <a:t>Nguyên tắc 11:</a:t>
            </a:r>
            <a:r>
              <a:rPr lang="en-US" sz="3640">
                <a:solidFill>
                  <a:srgbClr val="000000"/>
                </a:solidFill>
                <a:latin typeface="Century Gothic Paneuropean"/>
                <a:ea typeface="Century Gothic Paneuropean"/>
                <a:cs typeface="Century Gothic Paneuropean"/>
                <a:sym typeface="Century Gothic Paneuropean"/>
              </a:rPr>
              <a:t> Thiết kế phòng thủ (Design defensively) là không tin cách người khác sử dụng component của bạn, luôn kiểm tra đầu vào và xử lý các trường hợp dùng sai để tránh lỗi hệ thống.</a:t>
            </a:r>
          </a:p>
        </p:txBody>
      </p:sp>
      <p:sp>
        <p:nvSpPr>
          <p:cNvPr id="12" name="TextBox 12"/>
          <p:cNvSpPr txBox="1"/>
          <p:nvPr/>
        </p:nvSpPr>
        <p:spPr>
          <a:xfrm>
            <a:off x="488343" y="152360"/>
            <a:ext cx="11036635"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2.NGUYÊN TẮC THIẾT KẾ TỐT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678323" y="1468576"/>
            <a:ext cx="17429597" cy="7632312"/>
          </a:xfrm>
          <a:prstGeom prst="rect">
            <a:avLst/>
          </a:prstGeom>
        </p:spPr>
        <p:txBody>
          <a:bodyPr lIns="0" tIns="0" rIns="0" bIns="0" rtlCol="0" anchor="t">
            <a:spAutoFit/>
          </a:bodyPr>
          <a:lstStyle/>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Khi có nhiều phương án thiết kế, ta chọn phương án thỏa mãn các mục tiêu quan trọng nhất của hệ thống, chứ không phải phương án “đẹp” hay “mới” nhất.</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Bước 1: Liệt kê các phương án: Có những cách nào để giải quyết vấn đề?</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Bước 2: So sánh ưu – nhược theo mục tiêu: Mỗi phương án tốt/xấu thế nào với các mục tiêu đã đặt ra?</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Bước 3: Loại phương án không đạt mục tiêu: Phương án nào không đạt mục tiêu quan trọng thì loại.</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Bước 4: Chọn phương án tốt nhất:Phương án đáp ứng nhiều mục tiêu ưu tiên nhất.</a:t>
            </a:r>
          </a:p>
          <a:p>
            <a:pPr marL="785932" lvl="1" indent="-392966" algn="l">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Bước 5: Điều chỉnh ưu tiên.</a:t>
            </a:r>
          </a:p>
        </p:txBody>
      </p:sp>
      <p:sp>
        <p:nvSpPr>
          <p:cNvPr id="12" name="TextBox 12"/>
          <p:cNvSpPr txBox="1"/>
          <p:nvPr/>
        </p:nvSpPr>
        <p:spPr>
          <a:xfrm>
            <a:off x="488343" y="152360"/>
            <a:ext cx="17159366"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3.KỸ THUẬT ĐƯA RA QUYẾT ĐỊNH THIẾT KẾ TỐT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488343" y="152360"/>
            <a:ext cx="17159366"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3.KỸ THUẬT ĐƯA RA QUYẾT ĐỊNH THIẾT KẾ TỐT</a:t>
            </a:r>
          </a:p>
        </p:txBody>
      </p:sp>
      <p:sp>
        <p:nvSpPr>
          <p:cNvPr id="12" name="TextBox 12"/>
          <p:cNvSpPr txBox="1"/>
          <p:nvPr/>
        </p:nvSpPr>
        <p:spPr>
          <a:xfrm>
            <a:off x="655813" y="1536106"/>
            <a:ext cx="17426680" cy="3164569"/>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Sử dụng phân tích chi phí-lợi ích để lựa chọn giữa các phương án thay thế:</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Phương án này sẽ tốn bao nhiêu tiền, thời gian, công sức?</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Phương án này mang lại giá trị gì?</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Kết luận: So sánh lợi ích và chi phí của từng phương án, chọn phương án có lợi ích cao hơn chi phí nhiều nhất.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95712" y="140164"/>
            <a:ext cx="17311315"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4.SOFTWARE ARCHITECTURE (KIẾN TRÚC PHẦN MỀM)</a:t>
            </a:r>
          </a:p>
        </p:txBody>
      </p:sp>
      <p:sp>
        <p:nvSpPr>
          <p:cNvPr id="12" name="TextBox 12"/>
          <p:cNvSpPr txBox="1"/>
          <p:nvPr/>
        </p:nvSpPr>
        <p:spPr>
          <a:xfrm>
            <a:off x="861320" y="1288495"/>
            <a:ext cx="17426680" cy="6355978"/>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Là việc thiết kế bức tranh tổng thể của một hệ thống phần mềm, bao gồm:</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Chia hệ thống thành các phần (subsystems).</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Ví dụ: giao diện, xử lý nghiệp vụ, cơ sở dữ liệu.</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Quyết định các phần đó liên lạc với nhau thế nào.</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Gọi hàm, gửi API, message, v.v.</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Xác định giao diện (interface) giữa các phần.</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Mỗi phần cho phép phần khác dùng gì và dùng ra sao</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Kiến trúc phần mềm quyết định cấu trúc lớn của hệ thống và ảnh hưởng lâu dài đến chất lượng phần mềm.</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95712" y="140164"/>
            <a:ext cx="17311315"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4.SOFTWARE ARCHITECTURE (KIẾN TRÚC PHẦN MỀM)</a:t>
            </a:r>
          </a:p>
        </p:txBody>
      </p:sp>
      <p:sp>
        <p:nvSpPr>
          <p:cNvPr id="12" name="TextBox 12"/>
          <p:cNvSpPr txBox="1"/>
          <p:nvPr/>
        </p:nvSpPr>
        <p:spPr>
          <a:xfrm>
            <a:off x="861320" y="1288495"/>
            <a:ext cx="17426680" cy="6994153"/>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Kiến trúc phần mềm quan trọng vì nó giúp hệ thống được xây dựng rõ ràng, dễ làm việc và dễ phát triển lâu dài.Cụ thể:</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Giúp mọi người hiểu hệ thống dễ hơn.</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Nhìn vào kiến trúc là biết hệ thống gồm những phần nào, làm gì.</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 Cho phép nhiều người làm song song.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Mỗi người/nhóm làm một phần riêng, không ảnh hưởng nhau.</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Chuẩn bị cho việc mở rộng hệ thống sau này.</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Dễ thêm chức năng mới mà không phải sửa toàn bộ hệ thống.</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 Hỗ trợ tái sử dụng.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Có thể dùng lại module, class, service cho dự án khác.</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95712" y="140164"/>
            <a:ext cx="17311315"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4.SOFTWARE ARCHITECTURE (KIẾN TRÚC PHẦN MỀM)</a:t>
            </a:r>
          </a:p>
        </p:txBody>
      </p:sp>
      <p:sp>
        <p:nvSpPr>
          <p:cNvPr id="12" name="TextBox 12"/>
          <p:cNvSpPr txBox="1"/>
          <p:nvPr/>
        </p:nvSpPr>
        <p:spPr>
          <a:xfrm>
            <a:off x="658730" y="1761206"/>
            <a:ext cx="17426680" cy="4441453"/>
          </a:xfrm>
          <a:prstGeom prst="rect">
            <a:avLst/>
          </a:prstGeom>
        </p:spPr>
        <p:txBody>
          <a:bodyPr lIns="0" tIns="0" rIns="0" bIns="0" rtlCol="0" anchor="t">
            <a:spAutoFit/>
          </a:bodyPr>
          <a:lstStyle/>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Kiến trúc tốt phải cho thấy: hệ thống gồm gì, kết nối thế nào, chạy ra sao, chia sẻ dữ liệu gì và chạy ở đâu.</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Kiến trúc ổn định (stable architecture) là kiến trúc được thiết kế sao cho hệ thống dễ bảo trì và đáng tin cậy về lâu dài. Kiến trúc ổn định giúp hệ thống dễ mở rộng, ít rủi ro và tiết kiệm công sức bảo trì.</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95712" y="140164"/>
            <a:ext cx="17311315" cy="886343"/>
          </a:xfrm>
          <a:prstGeom prst="rect">
            <a:avLst/>
          </a:prstGeom>
        </p:spPr>
        <p:txBody>
          <a:bodyPr lIns="0" tIns="0" rIns="0" bIns="0" rtlCol="0" anchor="t">
            <a:spAutoFit/>
          </a:bodyPr>
          <a:lstStyle/>
          <a:p>
            <a:pPr algn="ctr">
              <a:lnSpc>
                <a:spcPts val="7321"/>
              </a:lnSpc>
            </a:pPr>
            <a:r>
              <a:rPr lang="en-US" sz="5229" b="1">
                <a:solidFill>
                  <a:srgbClr val="000000"/>
                </a:solidFill>
                <a:latin typeface="Century Gothic Paneuropean Bold"/>
                <a:ea typeface="Century Gothic Paneuropean Bold"/>
                <a:cs typeface="Century Gothic Paneuropean Bold"/>
                <a:sym typeface="Century Gothic Paneuropean Bold"/>
              </a:rPr>
              <a:t>4.SOFTWARE ARCHITECTURE (KIẾN TRÚC PHẦN MỀM)</a:t>
            </a:r>
          </a:p>
        </p:txBody>
      </p:sp>
      <p:sp>
        <p:nvSpPr>
          <p:cNvPr id="12" name="TextBox 12"/>
          <p:cNvSpPr txBox="1"/>
          <p:nvPr/>
        </p:nvSpPr>
        <p:spPr>
          <a:xfrm>
            <a:off x="861320" y="1288495"/>
            <a:ext cx="17426680" cy="7632328"/>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Phát triển mô hình kiến trúc nên làm theo các bước sau:</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Vẽ phác thảo kiến trúc tổng thể trước Chưa cần chi tiết, chỉ cần thấy bức tranh lớn.</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Dựa vào yêu cầu chính và các use case Hệ thống cần làm gì thì kiến trúc phải phục vụ đúng cái đó.</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 Xác định các thành phần chính Ví dụ: giao diện, xử lý nghiệp vụ, cơ sở dữ liệu, dịch vụ.</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 Chọn kiểu kiến trúc phù hợp (architectural pattern) Ví dụ: Layered, MVC, Client–Server, Microservices…</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 Gợi ý làm việc nhóm Nhiều nhóm thiết kế độc lập bản nháp, sau đó ghép lại những ý tưởng tốt nhất.</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95712" y="140164"/>
            <a:ext cx="17311315" cy="886342"/>
          </a:xfrm>
          <a:prstGeom prst="rect">
            <a:avLst/>
          </a:prstGeom>
        </p:spPr>
        <p:txBody>
          <a:bodyPr lIns="0" tIns="0" rIns="0" bIns="0" rtlCol="0" anchor="t">
            <a:spAutoFit/>
          </a:bodyPr>
          <a:lstStyle/>
          <a:p>
            <a:pPr algn="ctr">
              <a:lnSpc>
                <a:spcPts val="7321"/>
              </a:lnSpc>
            </a:pPr>
            <a:r>
              <a:rPr lang="en-US" sz="5229" b="1">
                <a:solidFill>
                  <a:srgbClr val="000000"/>
                </a:solidFill>
                <a:latin typeface="Century Gothic Paneuropean Bold"/>
                <a:ea typeface="Century Gothic Paneuropean Bold"/>
                <a:cs typeface="Century Gothic Paneuropean Bold"/>
                <a:sym typeface="Century Gothic Paneuropean Bold"/>
              </a:rPr>
              <a:t>4.SOFTWARE ARCHITECTURE (KIẾN TRÚC PHẦN MỀM)</a:t>
            </a:r>
          </a:p>
        </p:txBody>
      </p:sp>
      <p:sp>
        <p:nvSpPr>
          <p:cNvPr id="12" name="TextBox 12"/>
          <p:cNvSpPr txBox="1"/>
          <p:nvPr/>
        </p:nvSpPr>
        <p:spPr>
          <a:xfrm>
            <a:off x="861320" y="1288495"/>
            <a:ext cx="17426680" cy="6994153"/>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Để mô tả kiến trúc phần mềm, ta có thể dùng UML. Tất cả các sơ đồ UML đều có ích, nhưng 4 loại sau phù hợp nhất cho kiến trúc:</a:t>
            </a:r>
          </a:p>
          <a:p>
            <a:pPr marL="785801" lvl="1" indent="-392900" algn="l">
              <a:lnSpc>
                <a:spcPts val="5095"/>
              </a:lnSpc>
              <a:buFont typeface="Arial"/>
              <a:buChar char="•"/>
            </a:pPr>
            <a:r>
              <a:rPr lang="en-US" sz="3639" b="1">
                <a:solidFill>
                  <a:srgbClr val="000000"/>
                </a:solidFill>
                <a:latin typeface="Century Gothic Paneuropean Bold"/>
                <a:ea typeface="Century Gothic Paneuropean Bold"/>
                <a:cs typeface="Century Gothic Paneuropean Bold"/>
                <a:sym typeface="Century Gothic Paneuropean Bold"/>
              </a:rPr>
              <a:t>Package Diagram</a:t>
            </a:r>
            <a:r>
              <a:rPr lang="en-US" sz="3639">
                <a:solidFill>
                  <a:srgbClr val="000000"/>
                </a:solidFill>
                <a:latin typeface="Century Gothic Paneuropean"/>
                <a:ea typeface="Century Gothic Paneuropean"/>
                <a:cs typeface="Century Gothic Paneuropean"/>
                <a:sym typeface="Century Gothic Paneuropean"/>
              </a:rPr>
              <a:t>: Dùng để nhóm các lớp / module lại với nhau Cho thấy cấu trúc logic của hệ thống.</a:t>
            </a:r>
          </a:p>
          <a:p>
            <a:pPr marL="785801" lvl="1" indent="-392900" algn="l">
              <a:lnSpc>
                <a:spcPts val="5095"/>
              </a:lnSpc>
              <a:buFont typeface="Arial"/>
              <a:buChar char="•"/>
            </a:pPr>
            <a:r>
              <a:rPr lang="en-US" sz="3639" b="1">
                <a:solidFill>
                  <a:srgbClr val="000000"/>
                </a:solidFill>
                <a:latin typeface="Century Gothic Paneuropean Bold"/>
                <a:ea typeface="Century Gothic Paneuropean Bold"/>
                <a:cs typeface="Century Gothic Paneuropean Bold"/>
                <a:sym typeface="Century Gothic Paneuropean Bold"/>
              </a:rPr>
              <a:t>Subsystem Diagram</a:t>
            </a:r>
            <a:r>
              <a:rPr lang="en-US" sz="3639">
                <a:solidFill>
                  <a:srgbClr val="000000"/>
                </a:solidFill>
                <a:latin typeface="Century Gothic Paneuropean"/>
                <a:ea typeface="Century Gothic Paneuropean"/>
                <a:cs typeface="Century Gothic Paneuropean"/>
                <a:sym typeface="Century Gothic Paneuropean"/>
              </a:rPr>
              <a:t>: Thể hiện hệ thống gồm những hệ con nào và quan hệ giữa chúng Phù hợp cho cái nhìn ở mức kiến trúc cao.</a:t>
            </a:r>
          </a:p>
          <a:p>
            <a:pPr marL="785801" lvl="1" indent="-392900" algn="l">
              <a:lnSpc>
                <a:spcPts val="5095"/>
              </a:lnSpc>
              <a:buFont typeface="Arial"/>
              <a:buChar char="•"/>
            </a:pPr>
            <a:r>
              <a:rPr lang="en-US" sz="3639" b="1">
                <a:solidFill>
                  <a:srgbClr val="000000"/>
                </a:solidFill>
                <a:latin typeface="Century Gothic Paneuropean Bold"/>
                <a:ea typeface="Century Gothic Paneuropean Bold"/>
                <a:cs typeface="Century Gothic Paneuropean Bold"/>
                <a:sym typeface="Century Gothic Paneuropean Bold"/>
              </a:rPr>
              <a:t>Component Diagram</a:t>
            </a:r>
            <a:r>
              <a:rPr lang="en-US" sz="3639">
                <a:solidFill>
                  <a:srgbClr val="000000"/>
                </a:solidFill>
                <a:latin typeface="Century Gothic Paneuropean"/>
                <a:ea typeface="Century Gothic Paneuropean"/>
                <a:cs typeface="Century Gothic Paneuropean"/>
                <a:sym typeface="Century Gothic Paneuropean"/>
              </a:rPr>
              <a:t>: Mô tả các thành phần phần mềm khi chạy (component, service, library) Cho thấy ai phụ thuộc vào ai.</a:t>
            </a:r>
          </a:p>
          <a:p>
            <a:pPr marL="785801" lvl="1" indent="-392900" algn="l">
              <a:lnSpc>
                <a:spcPts val="5095"/>
              </a:lnSpc>
              <a:buFont typeface="Arial"/>
              <a:buChar char="•"/>
            </a:pPr>
            <a:r>
              <a:rPr lang="en-US" sz="3639" b="1">
                <a:solidFill>
                  <a:srgbClr val="000000"/>
                </a:solidFill>
                <a:latin typeface="Century Gothic Paneuropean Bold"/>
                <a:ea typeface="Century Gothic Paneuropean Bold"/>
                <a:cs typeface="Century Gothic Paneuropean Bold"/>
                <a:sym typeface="Century Gothic Paneuropean Bold"/>
              </a:rPr>
              <a:t>Deployment Diagram</a:t>
            </a:r>
            <a:r>
              <a:rPr lang="en-US" sz="3639">
                <a:solidFill>
                  <a:srgbClr val="000000"/>
                </a:solidFill>
                <a:latin typeface="Century Gothic Paneuropean"/>
                <a:ea typeface="Century Gothic Paneuropean"/>
                <a:cs typeface="Century Gothic Paneuropean"/>
                <a:sym typeface="Century Gothic Paneuropean"/>
              </a:rPr>
              <a:t>: Mô tả phần mềm được triển khai ở đâu Chạy trên server nào, máy nào, thiết bị nào.</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4111153" y="1428293"/>
            <a:ext cx="10065695" cy="2617081"/>
          </a:xfrm>
          <a:custGeom>
            <a:avLst/>
            <a:gdLst/>
            <a:ahLst/>
            <a:cxnLst/>
            <a:rect l="l" t="t" r="r" b="b"/>
            <a:pathLst>
              <a:path w="10065695" h="2617081">
                <a:moveTo>
                  <a:pt x="0" y="0"/>
                </a:moveTo>
                <a:lnTo>
                  <a:pt x="10065694" y="0"/>
                </a:lnTo>
                <a:lnTo>
                  <a:pt x="10065694" y="2617081"/>
                </a:lnTo>
                <a:lnTo>
                  <a:pt x="0" y="2617081"/>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380999" y="151805"/>
            <a:ext cx="7848599" cy="863600"/>
          </a:xfrm>
          <a:prstGeom prst="rect">
            <a:avLst/>
          </a:prstGeom>
        </p:spPr>
        <p:txBody>
          <a:bodyPr wrap="square" lIns="0" tIns="0" rIns="0" bIns="0" rtlCol="0" anchor="t">
            <a:spAutoFit/>
          </a:bodyPr>
          <a:lstStyle/>
          <a:p>
            <a:pPr algn="ctr">
              <a:lnSpc>
                <a:spcPts val="7000"/>
              </a:lnSpc>
              <a:spcBef>
                <a:spcPct val="0"/>
              </a:spcBef>
            </a:pPr>
            <a:r>
              <a:rPr lang="en-US" sz="5000" b="1" dirty="0">
                <a:solidFill>
                  <a:srgbClr val="000000"/>
                </a:solidFill>
                <a:latin typeface="Open Sans Bold"/>
                <a:ea typeface="Open Sans Bold"/>
                <a:cs typeface="Open Sans Bold"/>
                <a:sym typeface="Open Sans Bold"/>
              </a:rPr>
              <a:t>Package Diagram</a:t>
            </a:r>
          </a:p>
        </p:txBody>
      </p:sp>
      <p:sp>
        <p:nvSpPr>
          <p:cNvPr id="13" name="TextBox 13"/>
          <p:cNvSpPr txBox="1"/>
          <p:nvPr/>
        </p:nvSpPr>
        <p:spPr>
          <a:xfrm>
            <a:off x="670610" y="4359699"/>
            <a:ext cx="8047738" cy="2748915"/>
          </a:xfrm>
          <a:prstGeom prst="rect">
            <a:avLst/>
          </a:prstGeom>
        </p:spPr>
        <p:txBody>
          <a:bodyPr lIns="0" tIns="0" rIns="0" bIns="0" rtlCol="0" anchor="t">
            <a:spAutoFit/>
          </a:bodyPr>
          <a:lstStyle/>
          <a:p>
            <a:pPr algn="l">
              <a:lnSpc>
                <a:spcPts val="4409"/>
              </a:lnSpc>
              <a:spcBef>
                <a:spcPct val="0"/>
              </a:spcBef>
            </a:pPr>
            <a:r>
              <a:rPr lang="en-US" sz="3150" b="1">
                <a:solidFill>
                  <a:srgbClr val="000000"/>
                </a:solidFill>
                <a:latin typeface="Open Sans Bold"/>
                <a:ea typeface="Open Sans Bold"/>
                <a:cs typeface="Open Sans Bold"/>
                <a:sym typeface="Open Sans Bold"/>
              </a:rPr>
              <a:t>simplechat1</a:t>
            </a:r>
          </a:p>
          <a:p>
            <a:pPr algn="l">
              <a:lnSpc>
                <a:spcPts val="4409"/>
              </a:lnSpc>
              <a:spcBef>
                <a:spcPct val="0"/>
              </a:spcBef>
            </a:pPr>
            <a:r>
              <a:rPr lang="en-US" sz="3150">
                <a:solidFill>
                  <a:srgbClr val="000000"/>
                </a:solidFill>
                <a:latin typeface="Open Sans"/>
                <a:ea typeface="Open Sans"/>
                <a:cs typeface="Open Sans"/>
                <a:sym typeface="Open Sans"/>
              </a:rPr>
              <a:t> → Là package của ứng dụng chính</a:t>
            </a:r>
          </a:p>
          <a:p>
            <a:pPr algn="l">
              <a:lnSpc>
                <a:spcPts val="4409"/>
              </a:lnSpc>
              <a:spcBef>
                <a:spcPct val="0"/>
              </a:spcBef>
            </a:pPr>
            <a:r>
              <a:rPr lang="en-US" sz="3150">
                <a:solidFill>
                  <a:srgbClr val="000000"/>
                </a:solidFill>
                <a:latin typeface="Open Sans"/>
                <a:ea typeface="Open Sans"/>
                <a:cs typeface="Open Sans"/>
                <a:sym typeface="Open Sans"/>
              </a:rPr>
              <a:t> → Bên trong có:</a:t>
            </a:r>
          </a:p>
          <a:p>
            <a:pPr algn="l">
              <a:lnSpc>
                <a:spcPts val="4409"/>
              </a:lnSpc>
              <a:spcBef>
                <a:spcPct val="0"/>
              </a:spcBef>
            </a:pPr>
            <a:r>
              <a:rPr lang="en-US" sz="3150">
                <a:solidFill>
                  <a:srgbClr val="000000"/>
                </a:solidFill>
                <a:latin typeface="Open Sans"/>
                <a:ea typeface="Open Sans"/>
                <a:cs typeface="Open Sans"/>
                <a:sym typeface="Open Sans"/>
              </a:rPr>
              <a:t>client: phần chương trình phía người dùng.</a:t>
            </a:r>
          </a:p>
          <a:p>
            <a:pPr algn="l">
              <a:lnSpc>
                <a:spcPts val="4409"/>
              </a:lnSpc>
              <a:spcBef>
                <a:spcPct val="0"/>
              </a:spcBef>
            </a:pPr>
            <a:r>
              <a:rPr lang="en-US" sz="3150">
                <a:solidFill>
                  <a:srgbClr val="000000"/>
                </a:solidFill>
                <a:latin typeface="Open Sans"/>
                <a:ea typeface="Open Sans"/>
                <a:cs typeface="Open Sans"/>
                <a:sym typeface="Open Sans"/>
              </a:rPr>
              <a:t>common: các lớp dùng chung.</a:t>
            </a:r>
          </a:p>
        </p:txBody>
      </p:sp>
      <p:sp>
        <p:nvSpPr>
          <p:cNvPr id="14" name="TextBox 14"/>
          <p:cNvSpPr txBox="1"/>
          <p:nvPr/>
        </p:nvSpPr>
        <p:spPr>
          <a:xfrm>
            <a:off x="10011794" y="4359699"/>
            <a:ext cx="6813590" cy="2748915"/>
          </a:xfrm>
          <a:prstGeom prst="rect">
            <a:avLst/>
          </a:prstGeom>
        </p:spPr>
        <p:txBody>
          <a:bodyPr lIns="0" tIns="0" rIns="0" bIns="0" rtlCol="0" anchor="t">
            <a:spAutoFit/>
          </a:bodyPr>
          <a:lstStyle/>
          <a:p>
            <a:pPr algn="l">
              <a:lnSpc>
                <a:spcPts val="4409"/>
              </a:lnSpc>
              <a:spcBef>
                <a:spcPct val="0"/>
              </a:spcBef>
            </a:pPr>
            <a:r>
              <a:rPr lang="en-US" sz="3150" b="1">
                <a:solidFill>
                  <a:srgbClr val="000000"/>
                </a:solidFill>
                <a:latin typeface="Open Sans Bold"/>
                <a:ea typeface="Open Sans Bold"/>
                <a:cs typeface="Open Sans Bold"/>
                <a:sym typeface="Open Sans Bold"/>
              </a:rPr>
              <a:t>ocsf</a:t>
            </a:r>
          </a:p>
          <a:p>
            <a:pPr algn="l">
              <a:lnSpc>
                <a:spcPts val="4409"/>
              </a:lnSpc>
              <a:spcBef>
                <a:spcPct val="0"/>
              </a:spcBef>
            </a:pPr>
            <a:r>
              <a:rPr lang="en-US" sz="3150">
                <a:solidFill>
                  <a:srgbClr val="000000"/>
                </a:solidFill>
                <a:latin typeface="Open Sans"/>
                <a:ea typeface="Open Sans"/>
                <a:cs typeface="Open Sans"/>
                <a:sym typeface="Open Sans"/>
              </a:rPr>
              <a:t> → Là package thư viện / framework.</a:t>
            </a:r>
          </a:p>
          <a:p>
            <a:pPr algn="l">
              <a:lnSpc>
                <a:spcPts val="4409"/>
              </a:lnSpc>
              <a:spcBef>
                <a:spcPct val="0"/>
              </a:spcBef>
            </a:pPr>
            <a:r>
              <a:rPr lang="en-US" sz="3150">
                <a:solidFill>
                  <a:srgbClr val="000000"/>
                </a:solidFill>
                <a:latin typeface="Open Sans"/>
                <a:ea typeface="Open Sans"/>
                <a:cs typeface="Open Sans"/>
                <a:sym typeface="Open Sans"/>
              </a:rPr>
              <a:t> → Bên trong có:</a:t>
            </a:r>
          </a:p>
          <a:p>
            <a:pPr algn="l">
              <a:lnSpc>
                <a:spcPts val="4409"/>
              </a:lnSpc>
              <a:spcBef>
                <a:spcPct val="0"/>
              </a:spcBef>
            </a:pPr>
            <a:r>
              <a:rPr lang="en-US" sz="3150">
                <a:solidFill>
                  <a:srgbClr val="000000"/>
                </a:solidFill>
                <a:latin typeface="Open Sans"/>
                <a:ea typeface="Open Sans"/>
                <a:cs typeface="Open Sans"/>
                <a:sym typeface="Open Sans"/>
              </a:rPr>
              <a:t>client: lớp hỗ trợ client.</a:t>
            </a:r>
          </a:p>
          <a:p>
            <a:pPr algn="l">
              <a:lnSpc>
                <a:spcPts val="4409"/>
              </a:lnSpc>
              <a:spcBef>
                <a:spcPct val="0"/>
              </a:spcBef>
            </a:pPr>
            <a:r>
              <a:rPr lang="en-US" sz="3150">
                <a:solidFill>
                  <a:srgbClr val="000000"/>
                </a:solidFill>
                <a:latin typeface="Open Sans"/>
                <a:ea typeface="Open Sans"/>
                <a:cs typeface="Open Sans"/>
                <a:sym typeface="Open Sans"/>
              </a:rPr>
              <a:t>server: lớp hỗ trợ server.</a:t>
            </a:r>
          </a:p>
        </p:txBody>
      </p:sp>
      <p:sp>
        <p:nvSpPr>
          <p:cNvPr id="15" name="TextBox 15"/>
          <p:cNvSpPr txBox="1"/>
          <p:nvPr/>
        </p:nvSpPr>
        <p:spPr>
          <a:xfrm>
            <a:off x="826110" y="7422939"/>
            <a:ext cx="13229034" cy="1644015"/>
          </a:xfrm>
          <a:prstGeom prst="rect">
            <a:avLst/>
          </a:prstGeom>
        </p:spPr>
        <p:txBody>
          <a:bodyPr lIns="0" tIns="0" rIns="0" bIns="0" rtlCol="0" anchor="t">
            <a:spAutoFit/>
          </a:bodyPr>
          <a:lstStyle/>
          <a:p>
            <a:pPr algn="l">
              <a:lnSpc>
                <a:spcPts val="4409"/>
              </a:lnSpc>
              <a:spcBef>
                <a:spcPct val="0"/>
              </a:spcBef>
            </a:pPr>
            <a:r>
              <a:rPr lang="en-US" sz="3150" b="1">
                <a:solidFill>
                  <a:srgbClr val="000000"/>
                </a:solidFill>
                <a:latin typeface="Open Sans Bold"/>
                <a:ea typeface="Open Sans Bold"/>
                <a:cs typeface="Open Sans Bold"/>
                <a:sym typeface="Open Sans Bold"/>
              </a:rPr>
              <a:t>«import»</a:t>
            </a:r>
          </a:p>
          <a:p>
            <a:pPr algn="l">
              <a:lnSpc>
                <a:spcPts val="4409"/>
              </a:lnSpc>
              <a:spcBef>
                <a:spcPct val="0"/>
              </a:spcBef>
            </a:pPr>
            <a:r>
              <a:rPr lang="en-US" sz="3150">
                <a:solidFill>
                  <a:srgbClr val="000000"/>
                </a:solidFill>
                <a:latin typeface="Open Sans"/>
                <a:ea typeface="Open Sans"/>
                <a:cs typeface="Open Sans"/>
                <a:sym typeface="Open Sans"/>
              </a:rPr>
              <a:t> → simplechat1 phụ thuộc / sử dụng package ocsf.</a:t>
            </a:r>
          </a:p>
          <a:p>
            <a:pPr algn="l">
              <a:lnSpc>
                <a:spcPts val="4409"/>
              </a:lnSpc>
              <a:spcBef>
                <a:spcPct val="0"/>
              </a:spcBef>
            </a:pPr>
            <a:r>
              <a:rPr lang="en-US" sz="3150">
                <a:solidFill>
                  <a:srgbClr val="000000"/>
                </a:solidFill>
                <a:latin typeface="Open Sans"/>
                <a:ea typeface="Open Sans"/>
                <a:cs typeface="Open Sans"/>
                <a:sym typeface="Open Sans"/>
              </a:rPr>
              <a:t> → Nghĩa là code của simplechat1 import và dùng lại các lớp trong ocsf.</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28700" y="3499679"/>
            <a:ext cx="7188398" cy="1643918"/>
          </a:xfrm>
          <a:prstGeom prst="rect">
            <a:avLst/>
          </a:prstGeom>
        </p:spPr>
        <p:txBody>
          <a:bodyPr lIns="0" tIns="0" rIns="0" bIns="0" rtlCol="0" anchor="t">
            <a:spAutoFit/>
          </a:bodyPr>
          <a:lstStyle/>
          <a:p>
            <a:pPr algn="l">
              <a:lnSpc>
                <a:spcPts val="4415"/>
              </a:lnSpc>
            </a:pPr>
            <a:r>
              <a:rPr lang="en-US" sz="3153">
                <a:solidFill>
                  <a:srgbClr val="000000"/>
                </a:solidFill>
                <a:latin typeface="Open Sans"/>
                <a:ea typeface="Open Sans"/>
                <a:cs typeface="Open Sans"/>
                <a:sym typeface="Open Sans"/>
              </a:rPr>
              <a:t> </a:t>
            </a:r>
            <a:r>
              <a:rPr lang="en-US" sz="3153" b="1">
                <a:solidFill>
                  <a:srgbClr val="000000"/>
                </a:solidFill>
                <a:latin typeface="Open Sans Bold"/>
                <a:ea typeface="Open Sans Bold"/>
                <a:cs typeface="Open Sans Bold"/>
                <a:sym typeface="Open Sans Bold"/>
              </a:rPr>
              <a:t>Client</a:t>
            </a:r>
          </a:p>
          <a:p>
            <a:pPr algn="l">
              <a:lnSpc>
                <a:spcPts val="4415"/>
              </a:lnSpc>
            </a:pPr>
            <a:r>
              <a:rPr lang="en-US" sz="3153">
                <a:solidFill>
                  <a:srgbClr val="000000"/>
                </a:solidFill>
                <a:latin typeface="Open Sans"/>
                <a:ea typeface="Open Sans"/>
                <a:cs typeface="Open Sans"/>
                <a:sym typeface="Open Sans"/>
              </a:rPr>
              <a:t> → Một component phía người dùng.</a:t>
            </a:r>
          </a:p>
          <a:p>
            <a:pPr algn="l">
              <a:lnSpc>
                <a:spcPts val="4415"/>
              </a:lnSpc>
            </a:pPr>
            <a:r>
              <a:rPr lang="en-US" sz="3153">
                <a:solidFill>
                  <a:srgbClr val="000000"/>
                </a:solidFill>
                <a:latin typeface="Open Sans"/>
                <a:ea typeface="Open Sans"/>
                <a:cs typeface="Open Sans"/>
                <a:sym typeface="Open Sans"/>
              </a:rPr>
              <a:t>→ Có giao diện (interface) để giao tiếp.</a:t>
            </a:r>
          </a:p>
        </p:txBody>
      </p:sp>
      <p:sp>
        <p:nvSpPr>
          <p:cNvPr id="12" name="TextBox 12"/>
          <p:cNvSpPr txBox="1"/>
          <p:nvPr/>
        </p:nvSpPr>
        <p:spPr>
          <a:xfrm>
            <a:off x="9394173" y="3499582"/>
            <a:ext cx="6314004" cy="1644015"/>
          </a:xfrm>
          <a:prstGeom prst="rect">
            <a:avLst/>
          </a:prstGeom>
        </p:spPr>
        <p:txBody>
          <a:bodyPr lIns="0" tIns="0" rIns="0" bIns="0" rtlCol="0" anchor="t">
            <a:spAutoFit/>
          </a:bodyPr>
          <a:lstStyle/>
          <a:p>
            <a:pPr algn="l">
              <a:lnSpc>
                <a:spcPts val="4409"/>
              </a:lnSpc>
            </a:pPr>
            <a:r>
              <a:rPr lang="en-US" sz="3150" b="1">
                <a:solidFill>
                  <a:srgbClr val="000000"/>
                </a:solidFill>
                <a:latin typeface="Open Sans Bold"/>
                <a:ea typeface="Open Sans Bold"/>
                <a:cs typeface="Open Sans Bold"/>
                <a:sym typeface="Open Sans Bold"/>
              </a:rPr>
              <a:t> Server</a:t>
            </a:r>
          </a:p>
          <a:p>
            <a:pPr algn="l">
              <a:lnSpc>
                <a:spcPts val="4409"/>
              </a:lnSpc>
            </a:pPr>
            <a:r>
              <a:rPr lang="en-US" sz="3150">
                <a:solidFill>
                  <a:srgbClr val="000000"/>
                </a:solidFill>
                <a:latin typeface="Open Sans"/>
                <a:ea typeface="Open Sans"/>
                <a:cs typeface="Open Sans"/>
                <a:sym typeface="Open Sans"/>
              </a:rPr>
              <a:t> → Một component phía máy chủ.</a:t>
            </a:r>
          </a:p>
          <a:p>
            <a:pPr algn="l">
              <a:lnSpc>
                <a:spcPts val="4409"/>
              </a:lnSpc>
            </a:pPr>
            <a:r>
              <a:rPr lang="en-US" sz="3150">
                <a:solidFill>
                  <a:srgbClr val="000000"/>
                </a:solidFill>
                <a:latin typeface="Open Sans"/>
                <a:ea typeface="Open Sans"/>
                <a:cs typeface="Open Sans"/>
                <a:sym typeface="Open Sans"/>
              </a:rPr>
              <a:t>→ Cung cấp dịch vụ cho client.</a:t>
            </a:r>
          </a:p>
        </p:txBody>
      </p:sp>
      <p:sp>
        <p:nvSpPr>
          <p:cNvPr id="13" name="TextBox 13"/>
          <p:cNvSpPr txBox="1"/>
          <p:nvPr/>
        </p:nvSpPr>
        <p:spPr>
          <a:xfrm>
            <a:off x="1028700" y="5772150"/>
            <a:ext cx="7783930" cy="2196465"/>
          </a:xfrm>
          <a:prstGeom prst="rect">
            <a:avLst/>
          </a:prstGeom>
        </p:spPr>
        <p:txBody>
          <a:bodyPr lIns="0" tIns="0" rIns="0" bIns="0" rtlCol="0" anchor="t">
            <a:spAutoFit/>
          </a:bodyPr>
          <a:lstStyle/>
          <a:p>
            <a:pPr algn="l">
              <a:lnSpc>
                <a:spcPts val="4409"/>
              </a:lnSpc>
            </a:pPr>
            <a:r>
              <a:rPr lang="en-US" sz="3150">
                <a:solidFill>
                  <a:srgbClr val="000000"/>
                </a:solidFill>
                <a:latin typeface="Open Sans"/>
                <a:ea typeface="Open Sans"/>
                <a:cs typeface="Open Sans"/>
                <a:sym typeface="Open Sans"/>
              </a:rPr>
              <a:t>«</a:t>
            </a:r>
            <a:r>
              <a:rPr lang="en-US" sz="3150" b="1">
                <a:solidFill>
                  <a:srgbClr val="000000"/>
                </a:solidFill>
                <a:latin typeface="Open Sans Bold"/>
                <a:ea typeface="Open Sans Bold"/>
                <a:cs typeface="Open Sans Bold"/>
                <a:sym typeface="Open Sans Bold"/>
              </a:rPr>
              <a:t>communication</a:t>
            </a:r>
            <a:r>
              <a:rPr lang="en-US" sz="3150">
                <a:solidFill>
                  <a:srgbClr val="000000"/>
                </a:solidFill>
                <a:latin typeface="Open Sans"/>
                <a:ea typeface="Open Sans"/>
                <a:cs typeface="Open Sans"/>
                <a:sym typeface="Open Sans"/>
              </a:rPr>
              <a:t>»</a:t>
            </a:r>
          </a:p>
          <a:p>
            <a:pPr algn="l">
              <a:lnSpc>
                <a:spcPts val="4409"/>
              </a:lnSpc>
            </a:pPr>
            <a:r>
              <a:rPr lang="en-US" sz="3150">
                <a:solidFill>
                  <a:srgbClr val="000000"/>
                </a:solidFill>
                <a:latin typeface="Open Sans"/>
                <a:ea typeface="Open Sans"/>
                <a:cs typeface="Open Sans"/>
                <a:sym typeface="Open Sans"/>
              </a:rPr>
              <a:t> → Chỉ ra kết nối giao tiếp giữa Client và Server.</a:t>
            </a:r>
          </a:p>
          <a:p>
            <a:pPr algn="l">
              <a:lnSpc>
                <a:spcPts val="4409"/>
              </a:lnSpc>
            </a:pPr>
            <a:r>
              <a:rPr lang="en-US" sz="3150">
                <a:solidFill>
                  <a:srgbClr val="000000"/>
                </a:solidFill>
                <a:latin typeface="Open Sans"/>
                <a:ea typeface="Open Sans"/>
                <a:cs typeface="Open Sans"/>
                <a:sym typeface="Open Sans"/>
              </a:rPr>
              <a:t>→ Thường là network, API, socket, HTTP…</a:t>
            </a:r>
          </a:p>
        </p:txBody>
      </p:sp>
      <p:sp>
        <p:nvSpPr>
          <p:cNvPr id="14" name="TextBox 14"/>
          <p:cNvSpPr txBox="1"/>
          <p:nvPr/>
        </p:nvSpPr>
        <p:spPr>
          <a:xfrm>
            <a:off x="9394173" y="6037484"/>
            <a:ext cx="7117224" cy="2196465"/>
          </a:xfrm>
          <a:prstGeom prst="rect">
            <a:avLst/>
          </a:prstGeom>
        </p:spPr>
        <p:txBody>
          <a:bodyPr lIns="0" tIns="0" rIns="0" bIns="0" rtlCol="0" anchor="t">
            <a:spAutoFit/>
          </a:bodyPr>
          <a:lstStyle/>
          <a:p>
            <a:pPr algn="l">
              <a:lnSpc>
                <a:spcPts val="4409"/>
              </a:lnSpc>
            </a:pPr>
            <a:r>
              <a:rPr lang="en-US" sz="3150" b="1">
                <a:solidFill>
                  <a:srgbClr val="000000"/>
                </a:solidFill>
                <a:latin typeface="Open Sans Bold"/>
                <a:ea typeface="Open Sans Bold"/>
                <a:cs typeface="Open Sans Bold"/>
                <a:sym typeface="Open Sans Bold"/>
              </a:rPr>
              <a:t> Biểu tượng tròn (interface)</a:t>
            </a:r>
          </a:p>
          <a:p>
            <a:pPr algn="l">
              <a:lnSpc>
                <a:spcPts val="4409"/>
              </a:lnSpc>
            </a:pPr>
            <a:r>
              <a:rPr lang="en-US" sz="3150">
                <a:solidFill>
                  <a:srgbClr val="000000"/>
                </a:solidFill>
                <a:latin typeface="Open Sans"/>
                <a:ea typeface="Open Sans"/>
                <a:cs typeface="Open Sans"/>
                <a:sym typeface="Open Sans"/>
              </a:rPr>
              <a:t>→ Thể hiện giao diện kết nối giữa các component.</a:t>
            </a:r>
          </a:p>
          <a:p>
            <a:pPr algn="l">
              <a:lnSpc>
                <a:spcPts val="4409"/>
              </a:lnSpc>
            </a:pPr>
            <a:r>
              <a:rPr lang="en-US" sz="3150">
                <a:solidFill>
                  <a:srgbClr val="000000"/>
                </a:solidFill>
                <a:latin typeface="Open Sans"/>
                <a:ea typeface="Open Sans"/>
                <a:cs typeface="Open Sans"/>
                <a:sym typeface="Open Sans"/>
              </a:rPr>
              <a:t>→ Client gọi, Server cung cấp.</a:t>
            </a:r>
          </a:p>
        </p:txBody>
      </p:sp>
      <p:sp>
        <p:nvSpPr>
          <p:cNvPr id="15" name="Freeform 15"/>
          <p:cNvSpPr/>
          <p:nvPr/>
        </p:nvSpPr>
        <p:spPr>
          <a:xfrm>
            <a:off x="3077690" y="1458417"/>
            <a:ext cx="10065695" cy="1761497"/>
          </a:xfrm>
          <a:custGeom>
            <a:avLst/>
            <a:gdLst/>
            <a:ahLst/>
            <a:cxnLst/>
            <a:rect l="l" t="t" r="r" b="b"/>
            <a:pathLst>
              <a:path w="10065695" h="1761497">
                <a:moveTo>
                  <a:pt x="0" y="0"/>
                </a:moveTo>
                <a:lnTo>
                  <a:pt x="10065695" y="0"/>
                </a:lnTo>
                <a:lnTo>
                  <a:pt x="10065695" y="1761497"/>
                </a:lnTo>
                <a:lnTo>
                  <a:pt x="0" y="1761497"/>
                </a:lnTo>
                <a:lnTo>
                  <a:pt x="0" y="0"/>
                </a:lnTo>
                <a:close/>
              </a:path>
            </a:pathLst>
          </a:custGeom>
          <a:blipFill>
            <a:blip r:embed="rId2"/>
            <a:stretch>
              <a:fillRect/>
            </a:stretch>
          </a:blipFill>
        </p:spPr>
        <p:txBody>
          <a:bodyPr/>
          <a:lstStyle/>
          <a:p>
            <a:endParaRPr lang="en-US"/>
          </a:p>
        </p:txBody>
      </p:sp>
      <p:sp>
        <p:nvSpPr>
          <p:cNvPr id="16" name="TextBox 16"/>
          <p:cNvSpPr txBox="1"/>
          <p:nvPr/>
        </p:nvSpPr>
        <p:spPr>
          <a:xfrm>
            <a:off x="-1066799" y="132080"/>
            <a:ext cx="10210799" cy="863600"/>
          </a:xfrm>
          <a:prstGeom prst="rect">
            <a:avLst/>
          </a:prstGeom>
        </p:spPr>
        <p:txBody>
          <a:bodyPr wrap="square" lIns="0" tIns="0" rIns="0" bIns="0" rtlCol="0" anchor="t">
            <a:spAutoFit/>
          </a:bodyPr>
          <a:lstStyle/>
          <a:p>
            <a:pPr algn="ctr">
              <a:lnSpc>
                <a:spcPts val="7000"/>
              </a:lnSpc>
              <a:spcBef>
                <a:spcPct val="0"/>
              </a:spcBef>
            </a:pPr>
            <a:r>
              <a:rPr lang="en-US" sz="5000" b="1" dirty="0">
                <a:solidFill>
                  <a:srgbClr val="000000"/>
                </a:solidFill>
                <a:latin typeface="Open Sans Bold"/>
                <a:ea typeface="Open Sans Bold"/>
                <a:cs typeface="Open Sans Bold"/>
                <a:sym typeface="Open Sans Bold"/>
              </a:rPr>
              <a:t>Component Diagram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290780" y="1308576"/>
            <a:ext cx="11301259" cy="2020100"/>
          </a:xfrm>
          <a:custGeom>
            <a:avLst/>
            <a:gdLst/>
            <a:ahLst/>
            <a:cxnLst/>
            <a:rect l="l" t="t" r="r" b="b"/>
            <a:pathLst>
              <a:path w="11301259" h="2020100">
                <a:moveTo>
                  <a:pt x="0" y="0"/>
                </a:moveTo>
                <a:lnTo>
                  <a:pt x="11301259" y="0"/>
                </a:lnTo>
                <a:lnTo>
                  <a:pt x="11301259" y="2020100"/>
                </a:lnTo>
                <a:lnTo>
                  <a:pt x="0" y="2020100"/>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529351" y="-12025"/>
            <a:ext cx="9368551" cy="863600"/>
          </a:xfrm>
          <a:prstGeom prst="rect">
            <a:avLst/>
          </a:prstGeom>
        </p:spPr>
        <p:txBody>
          <a:bodyPr wrap="square" lIns="0" tIns="0" rIns="0" bIns="0" rtlCol="0" anchor="t">
            <a:spAutoFit/>
          </a:bodyPr>
          <a:lstStyle/>
          <a:p>
            <a:pPr algn="ctr">
              <a:lnSpc>
                <a:spcPts val="7000"/>
              </a:lnSpc>
              <a:spcBef>
                <a:spcPct val="0"/>
              </a:spcBef>
            </a:pPr>
            <a:r>
              <a:rPr lang="en-US" sz="5000" b="1" dirty="0">
                <a:solidFill>
                  <a:srgbClr val="000000"/>
                </a:solidFill>
                <a:latin typeface="Open Sans Bold"/>
                <a:ea typeface="Open Sans Bold"/>
                <a:cs typeface="Open Sans Bold"/>
                <a:sym typeface="Open Sans Bold"/>
              </a:rPr>
              <a:t>Deployment Diagram</a:t>
            </a:r>
          </a:p>
        </p:txBody>
      </p:sp>
      <p:sp>
        <p:nvSpPr>
          <p:cNvPr id="13" name="TextBox 13"/>
          <p:cNvSpPr txBox="1"/>
          <p:nvPr/>
        </p:nvSpPr>
        <p:spPr>
          <a:xfrm>
            <a:off x="488343" y="3690626"/>
            <a:ext cx="8115300" cy="1644015"/>
          </a:xfrm>
          <a:prstGeom prst="rect">
            <a:avLst/>
          </a:prstGeom>
        </p:spPr>
        <p:txBody>
          <a:bodyPr lIns="0" tIns="0" rIns="0" bIns="0" rtlCol="0" anchor="t">
            <a:spAutoFit/>
          </a:bodyPr>
          <a:lstStyle/>
          <a:p>
            <a:pPr algn="l">
              <a:lnSpc>
                <a:spcPts val="4409"/>
              </a:lnSpc>
              <a:spcBef>
                <a:spcPct val="0"/>
              </a:spcBef>
            </a:pPr>
            <a:r>
              <a:rPr lang="en-US" sz="3150">
                <a:solidFill>
                  <a:srgbClr val="000000"/>
                </a:solidFill>
                <a:latin typeface="Open Sans"/>
                <a:ea typeface="Open Sans"/>
                <a:cs typeface="Open Sans"/>
                <a:sym typeface="Open Sans"/>
              </a:rPr>
              <a:t> </a:t>
            </a:r>
            <a:r>
              <a:rPr lang="en-US" sz="3150" b="1">
                <a:solidFill>
                  <a:srgbClr val="000000"/>
                </a:solidFill>
                <a:latin typeface="Open Sans Bold"/>
                <a:ea typeface="Open Sans Bold"/>
                <a:cs typeface="Open Sans Bold"/>
                <a:sym typeface="Open Sans Bold"/>
              </a:rPr>
              <a:t>GPS device</a:t>
            </a:r>
          </a:p>
          <a:p>
            <a:pPr algn="l">
              <a:lnSpc>
                <a:spcPts val="4409"/>
              </a:lnSpc>
              <a:spcBef>
                <a:spcPct val="0"/>
              </a:spcBef>
            </a:pPr>
            <a:r>
              <a:rPr lang="en-US" sz="3150">
                <a:solidFill>
                  <a:srgbClr val="000000"/>
                </a:solidFill>
                <a:latin typeface="Open Sans"/>
                <a:ea typeface="Open Sans"/>
                <a:cs typeface="Open Sans"/>
                <a:sym typeface="Open Sans"/>
              </a:rPr>
              <a:t> → Thiết bị phần cứng.</a:t>
            </a:r>
          </a:p>
          <a:p>
            <a:pPr algn="l">
              <a:lnSpc>
                <a:spcPts val="4409"/>
              </a:lnSpc>
              <a:spcBef>
                <a:spcPct val="0"/>
              </a:spcBef>
            </a:pPr>
            <a:r>
              <a:rPr lang="en-US" sz="3150">
                <a:solidFill>
                  <a:srgbClr val="000000"/>
                </a:solidFill>
                <a:latin typeface="Open Sans"/>
                <a:ea typeface="Open Sans"/>
                <a:cs typeface="Open Sans"/>
                <a:sym typeface="Open Sans"/>
              </a:rPr>
              <a:t> → Gửi dữ liệu vị trí qua kết nối không dây.</a:t>
            </a:r>
          </a:p>
        </p:txBody>
      </p:sp>
      <p:sp>
        <p:nvSpPr>
          <p:cNvPr id="14" name="TextBox 14"/>
          <p:cNvSpPr txBox="1"/>
          <p:nvPr/>
        </p:nvSpPr>
        <p:spPr>
          <a:xfrm>
            <a:off x="8603643" y="3719201"/>
            <a:ext cx="7727110" cy="1644015"/>
          </a:xfrm>
          <a:prstGeom prst="rect">
            <a:avLst/>
          </a:prstGeom>
        </p:spPr>
        <p:txBody>
          <a:bodyPr lIns="0" tIns="0" rIns="0" bIns="0" rtlCol="0" anchor="t">
            <a:spAutoFit/>
          </a:bodyPr>
          <a:lstStyle/>
          <a:p>
            <a:pPr algn="l">
              <a:lnSpc>
                <a:spcPts val="4409"/>
              </a:lnSpc>
              <a:spcBef>
                <a:spcPct val="0"/>
              </a:spcBef>
            </a:pPr>
            <a:r>
              <a:rPr lang="en-US" sz="3150" b="1">
                <a:solidFill>
                  <a:srgbClr val="000000"/>
                </a:solidFill>
                <a:latin typeface="Open Sans Bold"/>
                <a:ea typeface="Open Sans Bold"/>
                <a:cs typeface="Open Sans Bold"/>
                <a:sym typeface="Open Sans Bold"/>
              </a:rPr>
              <a:t>Machine1</a:t>
            </a:r>
          </a:p>
          <a:p>
            <a:pPr algn="l">
              <a:lnSpc>
                <a:spcPts val="4409"/>
              </a:lnSpc>
              <a:spcBef>
                <a:spcPct val="0"/>
              </a:spcBef>
            </a:pPr>
            <a:r>
              <a:rPr lang="en-US" sz="3150">
                <a:solidFill>
                  <a:srgbClr val="000000"/>
                </a:solidFill>
                <a:latin typeface="Open Sans"/>
                <a:ea typeface="Open Sans"/>
                <a:cs typeface="Open Sans"/>
                <a:sym typeface="Open Sans"/>
              </a:rPr>
              <a:t> → Một máy tính / thiết bị trung gian.</a:t>
            </a:r>
          </a:p>
          <a:p>
            <a:pPr algn="l">
              <a:lnSpc>
                <a:spcPts val="4409"/>
              </a:lnSpc>
              <a:spcBef>
                <a:spcPct val="0"/>
              </a:spcBef>
            </a:pPr>
            <a:r>
              <a:rPr lang="en-US" sz="3150">
                <a:solidFill>
                  <a:srgbClr val="000000"/>
                </a:solidFill>
                <a:latin typeface="Open Sans"/>
                <a:ea typeface="Open Sans"/>
                <a:cs typeface="Open Sans"/>
                <a:sym typeface="Open Sans"/>
              </a:rPr>
              <a:t> → Chạy Client1 và Client2.</a:t>
            </a:r>
          </a:p>
        </p:txBody>
      </p:sp>
      <p:sp>
        <p:nvSpPr>
          <p:cNvPr id="15" name="TextBox 15"/>
          <p:cNvSpPr txBox="1"/>
          <p:nvPr/>
        </p:nvSpPr>
        <p:spPr>
          <a:xfrm>
            <a:off x="668539" y="6212498"/>
            <a:ext cx="5311036" cy="1644015"/>
          </a:xfrm>
          <a:prstGeom prst="rect">
            <a:avLst/>
          </a:prstGeom>
        </p:spPr>
        <p:txBody>
          <a:bodyPr lIns="0" tIns="0" rIns="0" bIns="0" rtlCol="0" anchor="t">
            <a:spAutoFit/>
          </a:bodyPr>
          <a:lstStyle/>
          <a:p>
            <a:pPr algn="l">
              <a:lnSpc>
                <a:spcPts val="4409"/>
              </a:lnSpc>
              <a:spcBef>
                <a:spcPct val="0"/>
              </a:spcBef>
            </a:pPr>
            <a:r>
              <a:rPr lang="en-US" sz="3150">
                <a:solidFill>
                  <a:srgbClr val="000000"/>
                </a:solidFill>
                <a:latin typeface="Open Sans"/>
                <a:ea typeface="Open Sans"/>
                <a:cs typeface="Open Sans"/>
                <a:sym typeface="Open Sans"/>
              </a:rPr>
              <a:t> </a:t>
            </a:r>
            <a:r>
              <a:rPr lang="en-US" sz="3150" b="1">
                <a:solidFill>
                  <a:srgbClr val="000000"/>
                </a:solidFill>
                <a:latin typeface="Open Sans Bold"/>
                <a:ea typeface="Open Sans Bold"/>
                <a:cs typeface="Open Sans Bold"/>
                <a:sym typeface="Open Sans Bold"/>
              </a:rPr>
              <a:t>Machine2</a:t>
            </a:r>
          </a:p>
          <a:p>
            <a:pPr algn="l">
              <a:lnSpc>
                <a:spcPts val="4409"/>
              </a:lnSpc>
              <a:spcBef>
                <a:spcPct val="0"/>
              </a:spcBef>
            </a:pPr>
            <a:r>
              <a:rPr lang="en-US" sz="3150">
                <a:solidFill>
                  <a:srgbClr val="000000"/>
                </a:solidFill>
                <a:latin typeface="Open Sans"/>
                <a:ea typeface="Open Sans"/>
                <a:cs typeface="Open Sans"/>
                <a:sym typeface="Open Sans"/>
              </a:rPr>
              <a:t> → Một máy chủ.</a:t>
            </a:r>
          </a:p>
          <a:p>
            <a:pPr algn="l">
              <a:lnSpc>
                <a:spcPts val="4409"/>
              </a:lnSpc>
              <a:spcBef>
                <a:spcPct val="0"/>
              </a:spcBef>
            </a:pPr>
            <a:r>
              <a:rPr lang="en-US" sz="3150">
                <a:solidFill>
                  <a:srgbClr val="000000"/>
                </a:solidFill>
                <a:latin typeface="Open Sans"/>
                <a:ea typeface="Open Sans"/>
                <a:cs typeface="Open Sans"/>
                <a:sym typeface="Open Sans"/>
              </a:rPr>
              <a:t> → Chạy Server.</a:t>
            </a:r>
          </a:p>
        </p:txBody>
      </p:sp>
      <p:sp>
        <p:nvSpPr>
          <p:cNvPr id="16" name="TextBox 16"/>
          <p:cNvSpPr txBox="1"/>
          <p:nvPr/>
        </p:nvSpPr>
        <p:spPr>
          <a:xfrm>
            <a:off x="8603643" y="6212498"/>
            <a:ext cx="9459039" cy="2196465"/>
          </a:xfrm>
          <a:prstGeom prst="rect">
            <a:avLst/>
          </a:prstGeom>
        </p:spPr>
        <p:txBody>
          <a:bodyPr lIns="0" tIns="0" rIns="0" bIns="0" rtlCol="0" anchor="t">
            <a:spAutoFit/>
          </a:bodyPr>
          <a:lstStyle/>
          <a:p>
            <a:pPr algn="l">
              <a:lnSpc>
                <a:spcPts val="4409"/>
              </a:lnSpc>
              <a:spcBef>
                <a:spcPct val="0"/>
              </a:spcBef>
            </a:pPr>
            <a:r>
              <a:rPr lang="en-US" sz="3150">
                <a:solidFill>
                  <a:srgbClr val="000000"/>
                </a:solidFill>
                <a:latin typeface="Open Sans"/>
                <a:ea typeface="Open Sans"/>
                <a:cs typeface="Open Sans"/>
                <a:sym typeface="Open Sans"/>
              </a:rPr>
              <a:t> </a:t>
            </a:r>
            <a:r>
              <a:rPr lang="en-US" sz="3150" b="1">
                <a:solidFill>
                  <a:srgbClr val="000000"/>
                </a:solidFill>
                <a:latin typeface="Open Sans Bold"/>
                <a:ea typeface="Open Sans Bold"/>
                <a:cs typeface="Open Sans Bold"/>
                <a:sym typeface="Open Sans Bold"/>
              </a:rPr>
              <a:t>Wireless communication</a:t>
            </a:r>
          </a:p>
          <a:p>
            <a:pPr algn="l">
              <a:lnSpc>
                <a:spcPts val="4409"/>
              </a:lnSpc>
              <a:spcBef>
                <a:spcPct val="0"/>
              </a:spcBef>
            </a:pPr>
            <a:r>
              <a:rPr lang="en-US" sz="3150">
                <a:solidFill>
                  <a:srgbClr val="000000"/>
                </a:solidFill>
                <a:latin typeface="Open Sans"/>
                <a:ea typeface="Open Sans"/>
                <a:cs typeface="Open Sans"/>
                <a:sym typeface="Open Sans"/>
              </a:rPr>
              <a:t> → Kết nối không dây giữa GPS device và Machine1</a:t>
            </a:r>
          </a:p>
          <a:p>
            <a:pPr algn="l">
              <a:lnSpc>
                <a:spcPts val="4409"/>
              </a:lnSpc>
              <a:spcBef>
                <a:spcPct val="0"/>
              </a:spcBef>
            </a:pPr>
            <a:r>
              <a:rPr lang="en-US" sz="3150">
                <a:solidFill>
                  <a:srgbClr val="000000"/>
                </a:solidFill>
                <a:latin typeface="Open Sans"/>
                <a:ea typeface="Open Sans"/>
                <a:cs typeface="Open Sans"/>
                <a:sym typeface="Open Sans"/>
              </a:rPr>
              <a:t> </a:t>
            </a:r>
            <a:r>
              <a:rPr lang="en-US" sz="3150" b="1">
                <a:solidFill>
                  <a:srgbClr val="000000"/>
                </a:solidFill>
                <a:latin typeface="Open Sans Bold"/>
                <a:ea typeface="Open Sans Bold"/>
                <a:cs typeface="Open Sans Bold"/>
                <a:sym typeface="Open Sans Bold"/>
              </a:rPr>
              <a:t>TCP/IP</a:t>
            </a:r>
          </a:p>
          <a:p>
            <a:pPr algn="l">
              <a:lnSpc>
                <a:spcPts val="4409"/>
              </a:lnSpc>
              <a:spcBef>
                <a:spcPct val="0"/>
              </a:spcBef>
            </a:pPr>
            <a:r>
              <a:rPr lang="en-US" sz="3150">
                <a:solidFill>
                  <a:srgbClr val="000000"/>
                </a:solidFill>
                <a:latin typeface="Open Sans"/>
                <a:ea typeface="Open Sans"/>
                <a:cs typeface="Open Sans"/>
                <a:sym typeface="Open Sans"/>
              </a:rPr>
              <a:t> → Kết nối mạng giữa Machine1 và Machine2.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
        <p:nvSpPr>
          <p:cNvPr id="12" name="TextBox 12"/>
          <p:cNvSpPr txBox="1"/>
          <p:nvPr/>
        </p:nvSpPr>
        <p:spPr>
          <a:xfrm>
            <a:off x="861320" y="1401045"/>
            <a:ext cx="17426680" cy="8908678"/>
          </a:xfrm>
          <a:prstGeom prst="rect">
            <a:avLst/>
          </a:prstGeom>
        </p:spPr>
        <p:txBody>
          <a:bodyPr lIns="0" tIns="0" rIns="0" bIns="0" rtlCol="0" anchor="t">
            <a:spAutoFit/>
          </a:bodyPr>
          <a:lstStyle/>
          <a:p>
            <a:pPr marL="785801" lvl="1" indent="-392900" algn="l">
              <a:lnSpc>
                <a:spcPts val="5095"/>
              </a:lnSpc>
              <a:buFont typeface="Arial"/>
              <a:buChar char="•"/>
            </a:pPr>
            <a:r>
              <a:rPr lang="en-US" sz="3639" b="1">
                <a:solidFill>
                  <a:srgbClr val="000000"/>
                </a:solidFill>
                <a:latin typeface="Century Gothic Paneuropean Bold"/>
                <a:ea typeface="Century Gothic Paneuropean Bold"/>
                <a:cs typeface="Century Gothic Paneuropean Bold"/>
                <a:sym typeface="Century Gothic Paneuropean Bold"/>
              </a:rPr>
              <a:t>Architectural Patterns (Mẫu kiến trúc)</a:t>
            </a:r>
            <a:r>
              <a:rPr lang="en-US" sz="3639">
                <a:solidFill>
                  <a:srgbClr val="000000"/>
                </a:solidFill>
                <a:latin typeface="Century Gothic Paneuropean"/>
                <a:ea typeface="Century Gothic Paneuropean"/>
                <a:cs typeface="Century Gothic Paneuropean"/>
                <a:sym typeface="Century Gothic Paneuropean"/>
              </a:rPr>
              <a:t> là các kiểu thiết kế kiến trúc phần mềm đã được đúc kết sẵn, dùng để xây dựng hệ thống hiệu quả.</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Ví dụ: Client–Server, Microservices...</a:t>
            </a:r>
          </a:p>
          <a:p>
            <a:pPr marL="785801" lvl="1" indent="-392900" algn="l">
              <a:lnSpc>
                <a:spcPts val="5095"/>
              </a:lnSpc>
              <a:buFont typeface="Arial"/>
              <a:buChar char="•"/>
            </a:pPr>
            <a:r>
              <a:rPr lang="en-US" sz="3639" b="1">
                <a:solidFill>
                  <a:srgbClr val="000000"/>
                </a:solidFill>
                <a:latin typeface="Century Gothic Paneuropean Bold"/>
                <a:ea typeface="Century Gothic Paneuropean Bold"/>
                <a:cs typeface="Century Gothic Paneuropean Bold"/>
                <a:sym typeface="Century Gothic Paneuropean Bold"/>
              </a:rPr>
              <a:t>Multi-Layer Architecture</a:t>
            </a:r>
            <a:r>
              <a:rPr lang="en-US" sz="3639">
                <a:solidFill>
                  <a:srgbClr val="000000"/>
                </a:solidFill>
                <a:latin typeface="Century Gothic Paneuropean"/>
                <a:ea typeface="Century Gothic Paneuropean"/>
                <a:cs typeface="Century Gothic Paneuropean"/>
                <a:sym typeface="Century Gothic Paneuropean"/>
              </a:rPr>
              <a:t> </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Hệ thống được chia thành nhiều tầng, xếp chồng lên nhau từ trừu tượng cao → thấp.</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Mỗi tầng chỉ giao tiếp với tầng ngay bên dưới.</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Mỗi tầng có interface rõ ràng.</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Tầng trên xem tầng dưới như các dịch vụ.</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Xây hệ thống phức tạp bằng cách chồng các tầng.</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Phải có tầng UI riêng biệt.</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Tầng ngay dưới UI xử lý nghiệp vụ (use cases).</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Các tầng thấp nhất cung cấp dịch vụ chung.</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288495"/>
            <a:ext cx="17426680" cy="8908678"/>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Nguyên tắc thiết kế của </a:t>
            </a:r>
            <a:r>
              <a:rPr lang="en-US" sz="3639" b="1">
                <a:solidFill>
                  <a:srgbClr val="000000"/>
                </a:solidFill>
                <a:latin typeface="Century Gothic Paneuropean Bold"/>
                <a:ea typeface="Century Gothic Paneuropean Bold"/>
                <a:cs typeface="Century Gothic Paneuropean Bold"/>
                <a:sym typeface="Century Gothic Paneuropean Bold"/>
              </a:rPr>
              <a:t>Multi-Layer Architecture</a:t>
            </a:r>
            <a:r>
              <a:rPr lang="en-US" sz="3639">
                <a:solidFill>
                  <a:srgbClr val="000000"/>
                </a:solidFill>
                <a:latin typeface="Century Gothic Paneuropean"/>
                <a:ea typeface="Century Gothic Paneuropean"/>
                <a:cs typeface="Century Gothic Paneuropean"/>
                <a:sym typeface="Century Gothic Paneuropean"/>
              </a:rPr>
              <a:t> </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Divide and Conquer (Chia để trị)</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Chia hệ thống thành các tầng.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tầng có thể thiết kế và phát triển độc lập.</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Increase Cohesion (Tăng tính kết dính)</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tầng chỉ tập trung vào một nhiệm vụ rõ ràng.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làm việc lộn xộn.</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Reduce Coupling (Giảm phụ thuộc)</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Tầng dưới không biết tầng trên.</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Các tầng chỉ liên kết với nhau qua API/interface.</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Increase Abstraction (Tăng mức trừu tượng)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Tầng trên không cần biết tầng dưới cài đặt thế nào.</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Chỉ cần biết “dùng ra sao”.</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288495"/>
            <a:ext cx="17426680" cy="8270503"/>
          </a:xfrm>
          <a:prstGeom prst="rect">
            <a:avLst/>
          </a:prstGeom>
        </p:spPr>
        <p:txBody>
          <a:bodyPr lIns="0" tIns="0" rIns="0" bIns="0" rtlCol="0" anchor="t">
            <a:spAutoFit/>
          </a:bodyPr>
          <a:lstStyle/>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Increase Reusability (Tăng khả năng tái sử dụng)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Các tầng dưới thường được thiết kế tổng quát.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dùng lại cho nhiều ứng dụng khác.</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Increase Reuse (Tăng tái sử dụng)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dùng lại các tầng do người khác xây sẵn (framework, library).</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cần tự làm lại từ đầu.</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 Increase Flexibility (Tăng linh hoạt)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Dễ thêm chức năng mới dựa trên tầng dưới.</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Hoặc thay tầng trên mà không ảnh hưởng tầng dưới.</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Anticipate Obsolescence (Chống lỗi thời)</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Tách các thành phần vào các tầng riêng.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Khi công nghệ cũ, chỉ cần thay một tầng, không đập cả hệ thống.</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703750" y="1648656"/>
            <a:ext cx="17426680" cy="6355978"/>
          </a:xfrm>
          <a:prstGeom prst="rect">
            <a:avLst/>
          </a:prstGeom>
        </p:spPr>
        <p:txBody>
          <a:bodyPr lIns="0" tIns="0" rIns="0" bIns="0" rtlCol="0" anchor="t">
            <a:spAutoFit/>
          </a:bodyPr>
          <a:lstStyle/>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Design for Portability (Dễ chuyển nền tảng)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Các phần phụ thuộc hệ điều hành / phần cứng.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Được gom vào tầng thấp, nên dễ port sang nền tảng khác.</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Design for Testability (Dễ kiểm thử)</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tầng có thể test độc lập.</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Dễ viết unit test, ít lỗi dây chuyền.</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Design Defensively (Thiết kế phòng thủ)</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API giữa các tầng là nơi kiểm tra dữ liệu chặt chẽ.</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Bắt lỗi sớm, tránh lỗi lan rộng.</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40849" y="1150818"/>
            <a:ext cx="16958808" cy="9128125"/>
          </a:xfrm>
          <a:prstGeom prst="rect">
            <a:avLst/>
          </a:prstGeom>
        </p:spPr>
        <p:txBody>
          <a:bodyPr lIns="0" tIns="0" rIns="0" bIns="0" rtlCol="0" anchor="t">
            <a:spAutoFit/>
          </a:bodyPr>
          <a:lstStyle/>
          <a:p>
            <a:pPr algn="l">
              <a:lnSpc>
                <a:spcPts val="4549"/>
              </a:lnSpc>
            </a:pPr>
            <a:r>
              <a:rPr lang="en-US" sz="3249">
                <a:solidFill>
                  <a:srgbClr val="000000"/>
                </a:solidFill>
                <a:latin typeface="Century Gothic Paneuropean"/>
                <a:ea typeface="Century Gothic Paneuropean"/>
                <a:cs typeface="Century Gothic Paneuropean"/>
                <a:sym typeface="Century Gothic Paneuropean"/>
              </a:rPr>
              <a:t>Client–Server và các kiến trúc phân tán:</a:t>
            </a:r>
          </a:p>
          <a:p>
            <a:pPr algn="l">
              <a:lnSpc>
                <a:spcPts val="4549"/>
              </a:lnSpc>
            </a:pPr>
            <a:r>
              <a:rPr lang="en-US" sz="3249" b="1">
                <a:solidFill>
                  <a:srgbClr val="000000"/>
                </a:solidFill>
                <a:latin typeface="Century Gothic Paneuropean Bold"/>
                <a:ea typeface="Century Gothic Paneuropean Bold"/>
                <a:cs typeface="Century Gothic Paneuropean Bold"/>
                <a:sym typeface="Century Gothic Paneuropean Bold"/>
              </a:rPr>
              <a:t>1. Client–Server Architecture: </a:t>
            </a:r>
          </a:p>
          <a:p>
            <a:pPr marL="701674" lvl="1" indent="-350837" algn="l">
              <a:lnSpc>
                <a:spcPts val="4549"/>
              </a:lnSpc>
              <a:buFont typeface="Arial"/>
              <a:buChar char="•"/>
            </a:pPr>
            <a:r>
              <a:rPr lang="en-US" sz="3249">
                <a:solidFill>
                  <a:srgbClr val="000000"/>
                </a:solidFill>
                <a:latin typeface="Century Gothic Paneuropean"/>
                <a:ea typeface="Century Gothic Paneuropean"/>
                <a:cs typeface="Century Gothic Paneuropean"/>
                <a:sym typeface="Century Gothic Paneuropean"/>
              </a:rPr>
              <a:t>Server: Thành phần chờ kết nối, Khi có client gửi yêu cầu thì xử lý và cung cấp dịch vụ.</a:t>
            </a:r>
          </a:p>
          <a:p>
            <a:pPr marL="701674" lvl="1" indent="-350837" algn="l">
              <a:lnSpc>
                <a:spcPts val="4549"/>
              </a:lnSpc>
              <a:buFont typeface="Arial"/>
              <a:buChar char="•"/>
            </a:pPr>
            <a:r>
              <a:rPr lang="en-US" sz="3249">
                <a:solidFill>
                  <a:srgbClr val="000000"/>
                </a:solidFill>
                <a:latin typeface="Century Gothic Paneuropean"/>
                <a:ea typeface="Century Gothic Paneuropean"/>
                <a:cs typeface="Century Gothic Paneuropean"/>
                <a:sym typeface="Century Gothic Paneuropean"/>
              </a:rPr>
              <a:t>Client: Thành phần chủ động kết nối, Gửi yêu cầu để nhận dịch vụ từ server.</a:t>
            </a:r>
          </a:p>
          <a:p>
            <a:pPr algn="l">
              <a:lnSpc>
                <a:spcPts val="4549"/>
              </a:lnSpc>
            </a:pPr>
            <a:r>
              <a:rPr lang="en-US" sz="3249">
                <a:solidFill>
                  <a:srgbClr val="000000"/>
                </a:solidFill>
                <a:latin typeface="Century Gothic Paneuropean"/>
                <a:ea typeface="Century Gothic Paneuropean"/>
                <a:cs typeface="Century Gothic Paneuropean"/>
                <a:sym typeface="Century Gothic Paneuropean"/>
              </a:rPr>
              <a:t>Ví dụ: Trình duyệt (client) ↔ Web server.</a:t>
            </a:r>
          </a:p>
          <a:p>
            <a:pPr algn="l">
              <a:lnSpc>
                <a:spcPts val="4549"/>
              </a:lnSpc>
            </a:pPr>
            <a:r>
              <a:rPr lang="en-US" sz="3249" b="1">
                <a:solidFill>
                  <a:srgbClr val="000000"/>
                </a:solidFill>
                <a:latin typeface="Century Gothic Paneuropean Bold"/>
                <a:ea typeface="Century Gothic Paneuropean Bold"/>
                <a:cs typeface="Century Gothic Paneuropean Bold"/>
                <a:sym typeface="Century Gothic Paneuropean Bold"/>
              </a:rPr>
              <a:t>2️. Peer-to-Peer (P2P)</a:t>
            </a:r>
            <a:r>
              <a:rPr lang="en-US" sz="3249">
                <a:solidFill>
                  <a:srgbClr val="000000"/>
                </a:solidFill>
                <a:latin typeface="Century Gothic Paneuropean"/>
                <a:ea typeface="Century Gothic Paneuropean"/>
                <a:cs typeface="Century Gothic Paneuropean"/>
                <a:sym typeface="Century Gothic Paneuropean"/>
              </a:rPr>
              <a:t> – mở rộng của Client–Server:</a:t>
            </a:r>
          </a:p>
          <a:p>
            <a:pPr marL="701674" lvl="1" indent="-350837" algn="l">
              <a:lnSpc>
                <a:spcPts val="4549"/>
              </a:lnSpc>
              <a:buFont typeface="Arial"/>
              <a:buChar char="•"/>
            </a:pPr>
            <a:r>
              <a:rPr lang="en-US" sz="3249">
                <a:solidFill>
                  <a:srgbClr val="000000"/>
                </a:solidFill>
                <a:latin typeface="Century Gothic Paneuropean"/>
                <a:ea typeface="Century Gothic Paneuropean"/>
                <a:cs typeface="Century Gothic Paneuropean"/>
                <a:sym typeface="Century Gothic Paneuropean"/>
              </a:rPr>
              <a:t>Không có server trung tâm cố định,Mỗi máy (peer) có thể vừa là client, vừa là server, Các peer kết nối trực tiếp với nhau.</a:t>
            </a:r>
          </a:p>
          <a:p>
            <a:pPr marL="701674" lvl="1" indent="-350837" algn="l">
              <a:lnSpc>
                <a:spcPts val="4549"/>
              </a:lnSpc>
              <a:buFont typeface="Arial"/>
              <a:buChar char="•"/>
            </a:pPr>
            <a:r>
              <a:rPr lang="en-US" sz="3249">
                <a:solidFill>
                  <a:srgbClr val="000000"/>
                </a:solidFill>
                <a:latin typeface="Century Gothic Paneuropean"/>
                <a:ea typeface="Century Gothic Paneuropean"/>
                <a:cs typeface="Century Gothic Paneuropean"/>
                <a:sym typeface="Century Gothic Paneuropean"/>
              </a:rPr>
              <a:t>Ví dụ: chia sẻ file P2P.</a:t>
            </a:r>
          </a:p>
          <a:p>
            <a:pPr algn="l">
              <a:lnSpc>
                <a:spcPts val="4549"/>
              </a:lnSpc>
            </a:pPr>
            <a:r>
              <a:rPr lang="en-US" sz="3249" b="1">
                <a:solidFill>
                  <a:srgbClr val="000000"/>
                </a:solidFill>
                <a:latin typeface="Century Gothic Paneuropean Bold"/>
                <a:ea typeface="Century Gothic Paneuropean Bold"/>
                <a:cs typeface="Century Gothic Paneuropean Bold"/>
                <a:sym typeface="Century Gothic Paneuropean Bold"/>
              </a:rPr>
              <a:t>3️. Kiến trúc phân tán (Distributed System)</a:t>
            </a:r>
            <a:r>
              <a:rPr lang="en-US" sz="3249">
                <a:solidFill>
                  <a:srgbClr val="000000"/>
                </a:solidFill>
                <a:latin typeface="Century Gothic Paneuropean"/>
                <a:ea typeface="Century Gothic Paneuropean"/>
                <a:cs typeface="Century Gothic Paneuropean"/>
                <a:sym typeface="Century Gothic Paneuropean"/>
              </a:rPr>
              <a:t>: </a:t>
            </a:r>
          </a:p>
          <a:p>
            <a:pPr marL="701674" lvl="1" indent="-350837" algn="l">
              <a:lnSpc>
                <a:spcPts val="4549"/>
              </a:lnSpc>
              <a:buFont typeface="Arial"/>
              <a:buChar char="•"/>
            </a:pPr>
            <a:r>
              <a:rPr lang="en-US" sz="3249">
                <a:solidFill>
                  <a:srgbClr val="000000"/>
                </a:solidFill>
                <a:latin typeface="Century Gothic Paneuropean"/>
                <a:ea typeface="Century Gothic Paneuropean"/>
                <a:cs typeface="Century Gothic Paneuropean"/>
                <a:sym typeface="Century Gothic Paneuropean"/>
              </a:rPr>
              <a:t>Hệ thống gồm nhiều thành phần phần mềm, Các thành phần này chạy trên nhiều máy (hosts) khác nhau,Giao tiếp qua mạng.</a:t>
            </a:r>
          </a:p>
          <a:p>
            <a:pPr marL="701674" lvl="1" indent="-350837" algn="l">
              <a:lnSpc>
                <a:spcPts val="4549"/>
              </a:lnSpc>
              <a:buFont typeface="Arial"/>
              <a:buChar char="•"/>
            </a:pPr>
            <a:r>
              <a:rPr lang="en-US" sz="3249">
                <a:solidFill>
                  <a:srgbClr val="000000"/>
                </a:solidFill>
                <a:latin typeface="Century Gothic Paneuropean"/>
                <a:ea typeface="Century Gothic Paneuropean"/>
                <a:cs typeface="Century Gothic Paneuropean"/>
                <a:sym typeface="Century Gothic Paneuropean"/>
              </a:rPr>
              <a:t>Ví dụ: hệ thống web lớn, cloud, microservices,...</a:t>
            </a:r>
          </a:p>
          <a:p>
            <a:pPr algn="l">
              <a:lnSpc>
                <a:spcPts val="4549"/>
              </a:lnSpc>
            </a:pPr>
            <a:endParaRPr lang="en-US" sz="3249">
              <a:solidFill>
                <a:srgbClr val="000000"/>
              </a:solidFill>
              <a:latin typeface="Century Gothic Paneuropean"/>
              <a:ea typeface="Century Gothic Paneuropean"/>
              <a:cs typeface="Century Gothic Paneuropean"/>
              <a:sym typeface="Century Gothic Paneuropean"/>
            </a:endParaRPr>
          </a:p>
          <a:p>
            <a:pPr algn="l">
              <a:lnSpc>
                <a:spcPts val="4549"/>
              </a:lnSpc>
            </a:pPr>
            <a:endParaRPr lang="en-US" sz="324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4623411" y="290020"/>
            <a:ext cx="8927972" cy="3403789"/>
          </a:xfrm>
          <a:custGeom>
            <a:avLst/>
            <a:gdLst/>
            <a:ahLst/>
            <a:cxnLst/>
            <a:rect l="l" t="t" r="r" b="b"/>
            <a:pathLst>
              <a:path w="8927972" h="3403789">
                <a:moveTo>
                  <a:pt x="0" y="0"/>
                </a:moveTo>
                <a:lnTo>
                  <a:pt x="8927972" y="0"/>
                </a:lnTo>
                <a:lnTo>
                  <a:pt x="8927972" y="3403789"/>
                </a:lnTo>
                <a:lnTo>
                  <a:pt x="0" y="3403789"/>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6844460" y="3646184"/>
            <a:ext cx="5146357" cy="511811"/>
          </a:xfrm>
          <a:prstGeom prst="rect">
            <a:avLst/>
          </a:prstGeom>
        </p:spPr>
        <p:txBody>
          <a:bodyPr lIns="0" tIns="0" rIns="0" bIns="0" rtlCol="0" anchor="t">
            <a:spAutoFit/>
          </a:bodyPr>
          <a:lstStyle/>
          <a:p>
            <a:pPr algn="ctr">
              <a:lnSpc>
                <a:spcPts val="4339"/>
              </a:lnSpc>
              <a:spcBef>
                <a:spcPct val="0"/>
              </a:spcBef>
            </a:pPr>
            <a:r>
              <a:rPr lang="en-US" sz="3099">
                <a:solidFill>
                  <a:srgbClr val="000000"/>
                </a:solidFill>
                <a:latin typeface="Open Sans"/>
                <a:ea typeface="Open Sans"/>
                <a:cs typeface="Open Sans"/>
                <a:sym typeface="Open Sans"/>
              </a:rPr>
              <a:t>Client–Server + Client–Client</a:t>
            </a:r>
          </a:p>
        </p:txBody>
      </p:sp>
      <p:sp>
        <p:nvSpPr>
          <p:cNvPr id="13" name="TextBox 13"/>
          <p:cNvSpPr txBox="1"/>
          <p:nvPr/>
        </p:nvSpPr>
        <p:spPr>
          <a:xfrm>
            <a:off x="1569057" y="4279590"/>
            <a:ext cx="7189422" cy="2748915"/>
          </a:xfrm>
          <a:prstGeom prst="rect">
            <a:avLst/>
          </a:prstGeom>
        </p:spPr>
        <p:txBody>
          <a:bodyPr lIns="0" tIns="0" rIns="0" bIns="0" rtlCol="0" anchor="t">
            <a:spAutoFit/>
          </a:bodyPr>
          <a:lstStyle/>
          <a:p>
            <a:pPr marL="680085" lvl="1" indent="-340042" algn="l">
              <a:lnSpc>
                <a:spcPts val="4409"/>
              </a:lnSpc>
              <a:buFont typeface="Arial"/>
              <a:buChar char="•"/>
            </a:pPr>
            <a:r>
              <a:rPr lang="en-US" sz="3150" b="1">
                <a:solidFill>
                  <a:srgbClr val="000000"/>
                </a:solidFill>
                <a:latin typeface="Open Sans Bold"/>
                <a:ea typeface="Open Sans Bold"/>
                <a:cs typeface="Open Sans Bold"/>
                <a:sym typeface="Open Sans Bold"/>
              </a:rPr>
              <a:t>Client1 &amp; Client2</a:t>
            </a:r>
          </a:p>
          <a:p>
            <a:pPr algn="l">
              <a:lnSpc>
                <a:spcPts val="4409"/>
              </a:lnSpc>
              <a:spcBef>
                <a:spcPct val="0"/>
              </a:spcBef>
            </a:pPr>
            <a:r>
              <a:rPr lang="en-US" sz="3150">
                <a:solidFill>
                  <a:srgbClr val="000000"/>
                </a:solidFill>
                <a:latin typeface="Open Sans"/>
                <a:ea typeface="Open Sans"/>
                <a:cs typeface="Open Sans"/>
                <a:sym typeface="Open Sans"/>
              </a:rPr>
              <a:t> → Hai chương trình chạy trên hai máy khác nhau.</a:t>
            </a:r>
          </a:p>
          <a:p>
            <a:pPr algn="l">
              <a:lnSpc>
                <a:spcPts val="4409"/>
              </a:lnSpc>
              <a:spcBef>
                <a:spcPct val="0"/>
              </a:spcBef>
            </a:pPr>
            <a:r>
              <a:rPr lang="en-US" sz="3150">
                <a:solidFill>
                  <a:srgbClr val="000000"/>
                </a:solidFill>
                <a:latin typeface="Open Sans"/>
                <a:ea typeface="Open Sans"/>
                <a:cs typeface="Open Sans"/>
                <a:sym typeface="Open Sans"/>
              </a:rPr>
              <a:t> → Có thể trao đổi message trực tiếp với nhau.</a:t>
            </a:r>
          </a:p>
        </p:txBody>
      </p:sp>
      <p:sp>
        <p:nvSpPr>
          <p:cNvPr id="14" name="TextBox 14"/>
          <p:cNvSpPr txBox="1"/>
          <p:nvPr/>
        </p:nvSpPr>
        <p:spPr>
          <a:xfrm>
            <a:off x="10065373" y="4393116"/>
            <a:ext cx="7734284" cy="2196465"/>
          </a:xfrm>
          <a:prstGeom prst="rect">
            <a:avLst/>
          </a:prstGeom>
        </p:spPr>
        <p:txBody>
          <a:bodyPr lIns="0" tIns="0" rIns="0" bIns="0" rtlCol="0" anchor="t">
            <a:spAutoFit/>
          </a:bodyPr>
          <a:lstStyle/>
          <a:p>
            <a:pPr marL="680085" lvl="1" indent="-340042" algn="l">
              <a:lnSpc>
                <a:spcPts val="4409"/>
              </a:lnSpc>
              <a:buFont typeface="Arial"/>
              <a:buChar char="•"/>
            </a:pPr>
            <a:r>
              <a:rPr lang="en-US" sz="3150" b="1">
                <a:solidFill>
                  <a:srgbClr val="000000"/>
                </a:solidFill>
                <a:latin typeface="Open Sans Bold"/>
                <a:ea typeface="Open Sans Bold"/>
                <a:cs typeface="Open Sans Bold"/>
                <a:sym typeface="Open Sans Bold"/>
              </a:rPr>
              <a:t>Server</a:t>
            </a:r>
          </a:p>
          <a:p>
            <a:pPr algn="l">
              <a:lnSpc>
                <a:spcPts val="4409"/>
              </a:lnSpc>
            </a:pPr>
            <a:r>
              <a:rPr lang="en-US" sz="3150">
                <a:solidFill>
                  <a:srgbClr val="000000"/>
                </a:solidFill>
                <a:latin typeface="Open Sans"/>
                <a:ea typeface="Open Sans"/>
                <a:cs typeface="Open Sans"/>
                <a:sym typeface="Open Sans"/>
              </a:rPr>
              <a:t> → Đóng vai trò trung tâm tra cứu (look up addresses).</a:t>
            </a:r>
          </a:p>
          <a:p>
            <a:pPr algn="l">
              <a:lnSpc>
                <a:spcPts val="4409"/>
              </a:lnSpc>
            </a:pPr>
            <a:r>
              <a:rPr lang="en-US" sz="3150">
                <a:solidFill>
                  <a:srgbClr val="000000"/>
                </a:solidFill>
                <a:latin typeface="Open Sans"/>
                <a:ea typeface="Open Sans"/>
                <a:cs typeface="Open Sans"/>
                <a:sym typeface="Open Sans"/>
              </a:rPr>
              <a:t> → Giúp client tìm địa chỉ của nhau.</a:t>
            </a:r>
          </a:p>
        </p:txBody>
      </p:sp>
      <p:sp>
        <p:nvSpPr>
          <p:cNvPr id="15" name="TextBox 15"/>
          <p:cNvSpPr txBox="1"/>
          <p:nvPr/>
        </p:nvSpPr>
        <p:spPr>
          <a:xfrm>
            <a:off x="1569057" y="7614285"/>
            <a:ext cx="9888336" cy="1644015"/>
          </a:xfrm>
          <a:prstGeom prst="rect">
            <a:avLst/>
          </a:prstGeom>
        </p:spPr>
        <p:txBody>
          <a:bodyPr lIns="0" tIns="0" rIns="0" bIns="0" rtlCol="0" anchor="t">
            <a:spAutoFit/>
          </a:bodyPr>
          <a:lstStyle/>
          <a:p>
            <a:pPr marL="680085" lvl="1" indent="-340042" algn="l">
              <a:lnSpc>
                <a:spcPts val="4409"/>
              </a:lnSpc>
              <a:buFont typeface="Arial"/>
              <a:buChar char="•"/>
            </a:pPr>
            <a:r>
              <a:rPr lang="en-US" sz="3150" b="1">
                <a:solidFill>
                  <a:srgbClr val="000000"/>
                </a:solidFill>
                <a:latin typeface="Open Sans Bold"/>
                <a:ea typeface="Open Sans Bold"/>
                <a:cs typeface="Open Sans Bold"/>
                <a:sym typeface="Open Sans Bold"/>
              </a:rPr>
              <a:t>Exchange messages</a:t>
            </a:r>
          </a:p>
          <a:p>
            <a:pPr algn="l">
              <a:lnSpc>
                <a:spcPts val="4409"/>
              </a:lnSpc>
            </a:pPr>
            <a:r>
              <a:rPr lang="en-US" sz="3150">
                <a:solidFill>
                  <a:srgbClr val="000000"/>
                </a:solidFill>
                <a:latin typeface="Open Sans"/>
                <a:ea typeface="Open Sans"/>
                <a:cs typeface="Open Sans"/>
                <a:sym typeface="Open Sans"/>
              </a:rPr>
              <a:t>→ Sau khi biết địa chỉ, các client giao tiếp trực tiếp.</a:t>
            </a:r>
          </a:p>
          <a:p>
            <a:pPr algn="l">
              <a:lnSpc>
                <a:spcPts val="4409"/>
              </a:lnSpc>
            </a:pPr>
            <a:r>
              <a:rPr lang="en-US" sz="3150">
                <a:solidFill>
                  <a:srgbClr val="000000"/>
                </a:solidFill>
                <a:latin typeface="Open Sans"/>
                <a:ea typeface="Open Sans"/>
                <a:cs typeface="Open Sans"/>
                <a:sym typeface="Open Sans"/>
              </a:rPr>
              <a:t>→ Không cần đi qua server nữa.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288495"/>
            <a:ext cx="17426680" cy="8270503"/>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Các nguyên tắc thiết kế kiến trúc phân tán:</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1️. Divide and Conquer (Chia để trị)</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Chia hệ thống thành Client và Server.</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bên có thể phát triển độc lập.</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2️. Increase Cohesion (Tăng tính kết dính)</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Server tập trung cung cấp một nhóm dịch vụ rõ ràng cho client.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làm việc lộn xộn.</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3️. Reduce Coupling (Giảm phụ thuộc)</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Thường chỉ có một kênh giao tiếp.</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Trao đổi message đơn giản, giảm phụ thuộc lẫn nhau.</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4️. Increase Abstraction (Tăng trừu tượng)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thành phần phân tán là một abstraction tốt.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cần biết chi tiết bên trong của nhau.</a:t>
            </a: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288495"/>
            <a:ext cx="17426680" cy="7632328"/>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Các nguyên tắc thiết kế kiến trúc phân tán:</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6️. Increase Reuse (Tăng tái sử dụng)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dùng framework sẵn có để xây hệ thống phân tán.</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Nhưng client–server thường gắn chặt với bài toán cụ thể, nên khó tái sử dụng hoàn toàn.</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7️ .Design for Flexibility (Thiết kế linh hoạt)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Dễ mở rộng hệ thống.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thêm server hoặc client mới mà không phải sửa toàn bộ.</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9️. Design for Portability (Dễ chuyển nền tảng)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viết client cho nền tảng mới (mobile, web, OS khác).</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cần thay đổi server.</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681240" y="1613086"/>
            <a:ext cx="17426680" cy="6994153"/>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Broker Architectural Pattern (Mô hình kiến ​​trúc của nhà môi giới) </a:t>
            </a:r>
          </a:p>
          <a:p>
            <a:pPr marL="785801" lvl="1" indent="-392900" algn="l">
              <a:lnSpc>
                <a:spcPts val="5095"/>
              </a:lnSpc>
              <a:buFont typeface="Arial"/>
              <a:buChar char="•"/>
            </a:pPr>
            <a:r>
              <a:rPr lang="en-US" sz="3639" b="1">
                <a:solidFill>
                  <a:srgbClr val="000000"/>
                </a:solidFill>
                <a:latin typeface="Century Gothic Paneuropean Bold"/>
                <a:ea typeface="Century Gothic Paneuropean Bold"/>
                <a:cs typeface="Century Gothic Paneuropean Bold"/>
                <a:sym typeface="Century Gothic Paneuropean Bold"/>
              </a:rPr>
              <a:t>Phân tán hệ thống một cách “trong suốt”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Các thành phần có thể nằm trên những máy khác nhau.</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Nhưng lập trình viên không cần quan tâm chúng ở đâu.</a:t>
            </a:r>
          </a:p>
          <a:p>
            <a:pPr marL="785801" lvl="1" indent="-392900" algn="l">
              <a:lnSpc>
                <a:spcPts val="5095"/>
              </a:lnSpc>
              <a:buFont typeface="Arial"/>
              <a:buChar char="•"/>
            </a:pPr>
            <a:r>
              <a:rPr lang="en-US" sz="3639" b="1">
                <a:solidFill>
                  <a:srgbClr val="000000"/>
                </a:solidFill>
                <a:latin typeface="Century Gothic Paneuropean Bold"/>
                <a:ea typeface="Century Gothic Paneuropean Bold"/>
                <a:cs typeface="Century Gothic Paneuropean Bold"/>
                <a:sym typeface="Century Gothic Paneuropean Bold"/>
              </a:rPr>
              <a:t>Gọi phương thức từ xa như gọi cục bộ</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Một object có thể gọi method của object khác.</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cần biết object kia chạy trên máy khác.</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 </a:t>
            </a:r>
            <a:r>
              <a:rPr lang="en-US" sz="3639" b="1">
                <a:solidFill>
                  <a:srgbClr val="000000"/>
                </a:solidFill>
                <a:latin typeface="Century Gothic Paneuropean Bold"/>
                <a:ea typeface="Century Gothic Paneuropean Bold"/>
                <a:cs typeface="Century Gothic Paneuropean Bold"/>
                <a:sym typeface="Century Gothic Paneuropean Bold"/>
              </a:rPr>
              <a:t>CORBA</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Là chuẩn mở nổi tiếng hỗ trợ kiến trúc Broker.</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Dùng để xây hệ thống phân tán kiểu này.</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569057" y="2282694"/>
            <a:ext cx="14525454" cy="1606813"/>
          </a:xfrm>
          <a:custGeom>
            <a:avLst/>
            <a:gdLst/>
            <a:ahLst/>
            <a:cxnLst/>
            <a:rect l="l" t="t" r="r" b="b"/>
            <a:pathLst>
              <a:path w="14525454" h="1606813">
                <a:moveTo>
                  <a:pt x="0" y="0"/>
                </a:moveTo>
                <a:lnTo>
                  <a:pt x="14525455" y="0"/>
                </a:lnTo>
                <a:lnTo>
                  <a:pt x="14525455" y="1606812"/>
                </a:lnTo>
                <a:lnTo>
                  <a:pt x="0" y="1606812"/>
                </a:lnTo>
                <a:lnTo>
                  <a:pt x="0" y="0"/>
                </a:lnTo>
                <a:close/>
              </a:path>
            </a:pathLst>
          </a:custGeom>
          <a:blipFill>
            <a:blip r:embed="rId2"/>
            <a:stretch>
              <a:fillRect b="-1699"/>
            </a:stretch>
          </a:blipFill>
        </p:spPr>
        <p:txBody>
          <a:bodyPr/>
          <a:lstStyle/>
          <a:p>
            <a:endParaRPr lang="en-US"/>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
        <p:nvSpPr>
          <p:cNvPr id="13" name="TextBox 13"/>
          <p:cNvSpPr txBox="1"/>
          <p:nvPr/>
        </p:nvSpPr>
        <p:spPr>
          <a:xfrm>
            <a:off x="1332407" y="5076825"/>
            <a:ext cx="8432721" cy="2795868"/>
          </a:xfrm>
          <a:prstGeom prst="rect">
            <a:avLst/>
          </a:prstGeom>
        </p:spPr>
        <p:txBody>
          <a:bodyPr lIns="0" tIns="0" rIns="0" bIns="0" rtlCol="0" anchor="t">
            <a:spAutoFit/>
          </a:bodyPr>
          <a:lstStyle/>
          <a:p>
            <a:pPr algn="l">
              <a:lnSpc>
                <a:spcPts val="4447"/>
              </a:lnSpc>
              <a:spcBef>
                <a:spcPct val="0"/>
              </a:spcBef>
            </a:pPr>
            <a:r>
              <a:rPr lang="en-US" sz="3176" b="1">
                <a:solidFill>
                  <a:srgbClr val="000000"/>
                </a:solidFill>
                <a:latin typeface="Open Sans Bold"/>
                <a:ea typeface="Open Sans Bold"/>
                <a:cs typeface="Open Sans Bold"/>
                <a:sym typeface="Open Sans Bold"/>
              </a:rPr>
              <a:t>Luồng hoạt động:</a:t>
            </a:r>
          </a:p>
          <a:p>
            <a:pPr algn="l">
              <a:lnSpc>
                <a:spcPts val="4447"/>
              </a:lnSpc>
              <a:spcBef>
                <a:spcPct val="0"/>
              </a:spcBef>
            </a:pPr>
            <a:r>
              <a:rPr lang="en-US" sz="3176">
                <a:solidFill>
                  <a:srgbClr val="000000"/>
                </a:solidFill>
                <a:latin typeface="Open Sans"/>
                <a:ea typeface="Open Sans"/>
                <a:cs typeface="Open Sans"/>
                <a:sym typeface="Open Sans"/>
              </a:rPr>
              <a:t>1️. Client gọi method của Proxy.</a:t>
            </a:r>
          </a:p>
          <a:p>
            <a:pPr algn="l">
              <a:lnSpc>
                <a:spcPts val="4447"/>
              </a:lnSpc>
              <a:spcBef>
                <a:spcPct val="0"/>
              </a:spcBef>
            </a:pPr>
            <a:r>
              <a:rPr lang="en-US" sz="3176">
                <a:solidFill>
                  <a:srgbClr val="000000"/>
                </a:solidFill>
                <a:latin typeface="Open Sans"/>
                <a:ea typeface="Open Sans"/>
                <a:cs typeface="Open Sans"/>
                <a:sym typeface="Open Sans"/>
              </a:rPr>
              <a:t> 2️. Proxy gửi yêu cầu đến Broker.</a:t>
            </a:r>
          </a:p>
          <a:p>
            <a:pPr algn="l">
              <a:lnSpc>
                <a:spcPts val="4447"/>
              </a:lnSpc>
              <a:spcBef>
                <a:spcPct val="0"/>
              </a:spcBef>
            </a:pPr>
            <a:r>
              <a:rPr lang="en-US" sz="3176">
                <a:solidFill>
                  <a:srgbClr val="000000"/>
                </a:solidFill>
                <a:latin typeface="Open Sans"/>
                <a:ea typeface="Open Sans"/>
                <a:cs typeface="Open Sans"/>
                <a:sym typeface="Open Sans"/>
              </a:rPr>
              <a:t> 3️. Broker chuyển yêu cầu tới Remote Object.</a:t>
            </a:r>
          </a:p>
          <a:p>
            <a:pPr algn="l">
              <a:lnSpc>
                <a:spcPts val="4447"/>
              </a:lnSpc>
              <a:spcBef>
                <a:spcPct val="0"/>
              </a:spcBef>
            </a:pPr>
            <a:r>
              <a:rPr lang="en-US" sz="3176">
                <a:solidFill>
                  <a:srgbClr val="000000"/>
                </a:solidFill>
                <a:latin typeface="Open Sans"/>
                <a:ea typeface="Open Sans"/>
                <a:cs typeface="Open Sans"/>
                <a:sym typeface="Open Sans"/>
              </a:rPr>
              <a:t> 4️. Kết quả được trả ngược lại theo đường cũ.</a:t>
            </a:r>
          </a:p>
        </p:txBody>
      </p:sp>
      <p:sp>
        <p:nvSpPr>
          <p:cNvPr id="14" name="TextBox 14"/>
          <p:cNvSpPr txBox="1"/>
          <p:nvPr/>
        </p:nvSpPr>
        <p:spPr>
          <a:xfrm>
            <a:off x="3526588" y="3822831"/>
            <a:ext cx="10964704" cy="539115"/>
          </a:xfrm>
          <a:prstGeom prst="rect">
            <a:avLst/>
          </a:prstGeom>
        </p:spPr>
        <p:txBody>
          <a:bodyPr lIns="0" tIns="0" rIns="0" bIns="0" rtlCol="0" anchor="t">
            <a:spAutoFit/>
          </a:bodyPr>
          <a:lstStyle/>
          <a:p>
            <a:pPr algn="ctr">
              <a:lnSpc>
                <a:spcPts val="4409"/>
              </a:lnSpc>
              <a:spcBef>
                <a:spcPct val="0"/>
              </a:spcBef>
            </a:pPr>
            <a:r>
              <a:rPr lang="en-US" sz="3150">
                <a:solidFill>
                  <a:srgbClr val="000000"/>
                </a:solidFill>
                <a:latin typeface="Open Sans"/>
                <a:ea typeface="Open Sans"/>
                <a:cs typeface="Open Sans"/>
                <a:sym typeface="Open Sans"/>
              </a:rPr>
              <a:t>Client gọi một object ở xa mà không cần biết nó nằm ở đâu</a:t>
            </a:r>
          </a:p>
        </p:txBody>
      </p:sp>
      <p:sp>
        <p:nvSpPr>
          <p:cNvPr id="15" name="TextBox 15"/>
          <p:cNvSpPr txBox="1"/>
          <p:nvPr/>
        </p:nvSpPr>
        <p:spPr>
          <a:xfrm>
            <a:off x="488343" y="1311527"/>
            <a:ext cx="16094512" cy="621665"/>
          </a:xfrm>
          <a:prstGeom prst="rect">
            <a:avLst/>
          </a:prstGeom>
        </p:spPr>
        <p:txBody>
          <a:bodyPr lIns="0" tIns="0" rIns="0" bIns="0" rtlCol="0" anchor="t">
            <a:spAutoFit/>
          </a:bodyPr>
          <a:lstStyle/>
          <a:p>
            <a:pPr algn="ctr">
              <a:lnSpc>
                <a:spcPts val="5110"/>
              </a:lnSpc>
              <a:spcBef>
                <a:spcPct val="0"/>
              </a:spcBef>
            </a:pPr>
            <a:r>
              <a:rPr lang="en-US" sz="3650">
                <a:solidFill>
                  <a:srgbClr val="000000"/>
                </a:solidFill>
                <a:latin typeface="Open Sans"/>
                <a:ea typeface="Open Sans"/>
                <a:cs typeface="Open Sans"/>
                <a:sym typeface="Open Sans"/>
              </a:rPr>
              <a:t>Broker Architectural Pattern (Mô hình kiến ​​trúc của nhà môi giới)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626146"/>
            <a:ext cx="17426680" cy="6355978"/>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Mô hình kiến trúc The Broker và nguyên tắc thiết kế:</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Divide and Conquer (Chia để trị)</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Các remote object có thể thiết kế và phát triển độc lập.</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phụ thuộc trực tiếp client.</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Increase Reusability (Tăng khả năng tái sử dụng)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Remote object có thể thiết kế tổng quát.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Dùng cho nhiều hệ thống khác nhau.</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I</a:t>
            </a:r>
            <a:r>
              <a:rPr lang="en-US" sz="3639" b="1">
                <a:solidFill>
                  <a:srgbClr val="000000"/>
                </a:solidFill>
                <a:latin typeface="Century Gothic Paneuropean Bold"/>
                <a:ea typeface="Century Gothic Paneuropean Bold"/>
                <a:cs typeface="Century Gothic Paneuropean Bold"/>
                <a:sym typeface="Century Gothic Paneuropean Bold"/>
              </a:rPr>
              <a:t>ncrease Reuse (Tái sử dụng lại cái có sẵn)</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dùng lại remote object do người khác xây dựng.</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378535"/>
            <a:ext cx="17426680" cy="6994153"/>
          </a:xfrm>
          <a:prstGeom prst="rect">
            <a:avLst/>
          </a:prstGeom>
        </p:spPr>
        <p:txBody>
          <a:bodyPr lIns="0" tIns="0" rIns="0" bIns="0" rtlCol="0" anchor="t">
            <a:spAutoFit/>
          </a:bodyPr>
          <a:lstStyle/>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Design for Flexibility (Linh hoạt)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cập nhật Broker.</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Hoặc Proxy có thể kết nối sang remote object khác mà client không cần đổi.</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Design for Portability (Dễ chuyển nền tảng)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Viết client cho nền tảng mới.</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Vẫn dùng chung Broker và remote object trên nền tảng khác.</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Design Defensively (Thiết kế phòng thủ)</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Remote object có thể kiểm tra dữ liệu đầu vào chặt chẽ.</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Giảm lỗi và tăng an toàn.</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a:t>
            </a: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703750" y="1900340"/>
            <a:ext cx="17426680" cy="5079628"/>
          </a:xfrm>
          <a:prstGeom prst="rect">
            <a:avLst/>
          </a:prstGeom>
        </p:spPr>
        <p:txBody>
          <a:bodyPr lIns="0" tIns="0" rIns="0" bIns="0" rtlCol="0" anchor="t">
            <a:spAutoFit/>
          </a:bodyPr>
          <a:lstStyle/>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Mô hình kiến trúc Transaction-Processing:</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Mẫu kiến trúc dùng cho các hệ thống xử lý nhiều giao dịch (transaction) liên tiếp.</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Hệ thống đọc các input lần lượt.</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Mỗi input là một transaction.</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Transaction Dispatcher: Thành phần trung tâm.</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Quyết định xử lý transaction như thế nào.</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Chuyển transaction cho component phù hợp.</a:t>
            </a: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774000" y="1229314"/>
            <a:ext cx="11055141" cy="2708510"/>
          </a:xfrm>
          <a:custGeom>
            <a:avLst/>
            <a:gdLst/>
            <a:ahLst/>
            <a:cxnLst/>
            <a:rect l="l" t="t" r="r" b="b"/>
            <a:pathLst>
              <a:path w="11055141" h="2708510">
                <a:moveTo>
                  <a:pt x="0" y="0"/>
                </a:moveTo>
                <a:lnTo>
                  <a:pt x="11055141" y="0"/>
                </a:lnTo>
                <a:lnTo>
                  <a:pt x="11055141" y="2708509"/>
                </a:lnTo>
                <a:lnTo>
                  <a:pt x="0" y="2708509"/>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
        <p:nvSpPr>
          <p:cNvPr id="13" name="TextBox 13"/>
          <p:cNvSpPr txBox="1"/>
          <p:nvPr/>
        </p:nvSpPr>
        <p:spPr>
          <a:xfrm>
            <a:off x="2597666" y="5463038"/>
            <a:ext cx="9829443" cy="2748915"/>
          </a:xfrm>
          <a:prstGeom prst="rect">
            <a:avLst/>
          </a:prstGeom>
        </p:spPr>
        <p:txBody>
          <a:bodyPr lIns="0" tIns="0" rIns="0" bIns="0" rtlCol="0" anchor="t">
            <a:spAutoFit/>
          </a:bodyPr>
          <a:lstStyle/>
          <a:p>
            <a:pPr algn="l">
              <a:lnSpc>
                <a:spcPts val="4409"/>
              </a:lnSpc>
              <a:spcBef>
                <a:spcPct val="0"/>
              </a:spcBef>
            </a:pPr>
            <a:r>
              <a:rPr lang="en-US" sz="3150" b="1">
                <a:solidFill>
                  <a:srgbClr val="000000"/>
                </a:solidFill>
                <a:latin typeface="Open Sans Bold"/>
                <a:ea typeface="Open Sans Bold"/>
                <a:cs typeface="Open Sans Bold"/>
                <a:sym typeface="Open Sans Bold"/>
              </a:rPr>
              <a:t>Luồng hoạt động:</a:t>
            </a:r>
          </a:p>
          <a:p>
            <a:pPr algn="l">
              <a:lnSpc>
                <a:spcPts val="4409"/>
              </a:lnSpc>
              <a:spcBef>
                <a:spcPct val="0"/>
              </a:spcBef>
            </a:pPr>
            <a:r>
              <a:rPr lang="en-US" sz="3150">
                <a:solidFill>
                  <a:srgbClr val="000000"/>
                </a:solidFill>
                <a:latin typeface="Open Sans"/>
                <a:ea typeface="Open Sans"/>
                <a:cs typeface="Open Sans"/>
                <a:sym typeface="Open Sans"/>
              </a:rPr>
              <a:t>1️. Hệ thống nhận transaction input.</a:t>
            </a:r>
          </a:p>
          <a:p>
            <a:pPr algn="l">
              <a:lnSpc>
                <a:spcPts val="4409"/>
              </a:lnSpc>
              <a:spcBef>
                <a:spcPct val="0"/>
              </a:spcBef>
            </a:pPr>
            <a:r>
              <a:rPr lang="en-US" sz="3150">
                <a:solidFill>
                  <a:srgbClr val="000000"/>
                </a:solidFill>
                <a:latin typeface="Open Sans"/>
                <a:ea typeface="Open Sans"/>
                <a:cs typeface="Open Sans"/>
                <a:sym typeface="Open Sans"/>
              </a:rPr>
              <a:t>2️. Giao dịch được gửi đến dispatcher.</a:t>
            </a:r>
          </a:p>
          <a:p>
            <a:pPr algn="l">
              <a:lnSpc>
                <a:spcPts val="4409"/>
              </a:lnSpc>
              <a:spcBef>
                <a:spcPct val="0"/>
              </a:spcBef>
            </a:pPr>
            <a:r>
              <a:rPr lang="en-US" sz="3150">
                <a:solidFill>
                  <a:srgbClr val="000000"/>
                </a:solidFill>
                <a:latin typeface="Open Sans"/>
                <a:ea typeface="Open Sans"/>
                <a:cs typeface="Open Sans"/>
                <a:sym typeface="Open Sans"/>
              </a:rPr>
              <a:t>3️. Dispatcher chuyển giao dịch đến handler phù hợp.</a:t>
            </a:r>
          </a:p>
          <a:p>
            <a:pPr algn="l">
              <a:lnSpc>
                <a:spcPts val="4409"/>
              </a:lnSpc>
              <a:spcBef>
                <a:spcPct val="0"/>
              </a:spcBef>
            </a:pPr>
            <a:r>
              <a:rPr lang="en-US" sz="3150">
                <a:solidFill>
                  <a:srgbClr val="000000"/>
                </a:solidFill>
                <a:latin typeface="Open Sans"/>
                <a:ea typeface="Open Sans"/>
                <a:cs typeface="Open Sans"/>
                <a:sym typeface="Open Sans"/>
              </a:rPr>
              <a:t>4️. Handler xử lý và cập nhật dữ liệu.</a:t>
            </a:r>
          </a:p>
        </p:txBody>
      </p:sp>
      <p:sp>
        <p:nvSpPr>
          <p:cNvPr id="14" name="TextBox 14"/>
          <p:cNvSpPr txBox="1"/>
          <p:nvPr/>
        </p:nvSpPr>
        <p:spPr>
          <a:xfrm>
            <a:off x="7147015" y="3880673"/>
            <a:ext cx="4309110" cy="529844"/>
          </a:xfrm>
          <a:prstGeom prst="rect">
            <a:avLst/>
          </a:prstGeom>
        </p:spPr>
        <p:txBody>
          <a:bodyPr lIns="0" tIns="0" rIns="0" bIns="0" rtlCol="0" anchor="t">
            <a:spAutoFit/>
          </a:bodyPr>
          <a:lstStyle/>
          <a:p>
            <a:pPr algn="ctr">
              <a:lnSpc>
                <a:spcPts val="4396"/>
              </a:lnSpc>
              <a:spcBef>
                <a:spcPct val="0"/>
              </a:spcBef>
            </a:pPr>
            <a:r>
              <a:rPr lang="en-US" sz="3140">
                <a:solidFill>
                  <a:srgbClr val="000000"/>
                </a:solidFill>
                <a:latin typeface="Open Sans"/>
                <a:ea typeface="Open Sans"/>
                <a:cs typeface="Open Sans"/>
                <a:sym typeface="Open Sans"/>
              </a:rPr>
              <a:t>Transaction-Processing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28700" y="1195838"/>
            <a:ext cx="17426680" cy="6994153"/>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Mô hình kiến trúc Transaction-Processing và các nguyên lý thiết kế:</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D</a:t>
            </a:r>
            <a:r>
              <a:rPr lang="en-US" sz="3639" b="1">
                <a:solidFill>
                  <a:srgbClr val="000000"/>
                </a:solidFill>
                <a:latin typeface="Century Gothic Paneuropean Bold"/>
                <a:ea typeface="Century Gothic Paneuropean Bold"/>
                <a:cs typeface="Century Gothic Paneuropean Bold"/>
                <a:sym typeface="Century Gothic Paneuropean Bold"/>
              </a:rPr>
              <a:t>ivide and Conquer (Chia để trị)</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transaction handler là một phần riêng.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giao cho các lập trình viên khác nhau làm độc lập.</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I</a:t>
            </a:r>
            <a:r>
              <a:rPr lang="en-US" sz="3639" b="1">
                <a:solidFill>
                  <a:srgbClr val="000000"/>
                </a:solidFill>
                <a:latin typeface="Century Gothic Paneuropean Bold"/>
                <a:ea typeface="Century Gothic Paneuropean Bold"/>
                <a:cs typeface="Century Gothic Paneuropean Bold"/>
                <a:sym typeface="Century Gothic Paneuropean Bold"/>
              </a:rPr>
              <a:t>ncrease Cohesion (Tăng tính kết dính)</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handler chỉ xử lý một loại giao dịch.</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Rõ ràng, tập trung, dễ hiểu.</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R</a:t>
            </a:r>
            <a:r>
              <a:rPr lang="en-US" sz="3639" b="1">
                <a:solidFill>
                  <a:srgbClr val="000000"/>
                </a:solidFill>
                <a:latin typeface="Century Gothic Paneuropean Bold"/>
                <a:ea typeface="Century Gothic Paneuropean Bold"/>
                <a:cs typeface="Century Gothic Paneuropean Bold"/>
                <a:sym typeface="Century Gothic Paneuropean Bold"/>
              </a:rPr>
              <a:t>educe Coupling (Giảm phụ thuộc)</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Dispatcher tách rời khỏi các handler.</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Các handler không phụ thuộc trực tiếp vào nhau.</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308388"/>
            <a:ext cx="17426680" cy="4441453"/>
          </a:xfrm>
          <a:prstGeom prst="rect">
            <a:avLst/>
          </a:prstGeom>
        </p:spPr>
        <p:txBody>
          <a:bodyPr lIns="0" tIns="0" rIns="0" bIns="0" rtlCol="0" anchor="t">
            <a:spAutoFit/>
          </a:bodyPr>
          <a:lstStyle/>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Design for Flexibility (Linh hoạt)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Thêm loại giao dịch mới chỉ cần thêm handler mới.</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phải sửa nhiều phần cũ.</a:t>
            </a:r>
          </a:p>
          <a:p>
            <a:pPr marL="785801" lvl="1" indent="-392900" algn="l">
              <a:lnSpc>
                <a:spcPts val="5095"/>
              </a:lnSpc>
              <a:buAutoNum type="arabicPeriod"/>
            </a:pPr>
            <a:r>
              <a:rPr lang="en-US" sz="3639" b="1">
                <a:solidFill>
                  <a:srgbClr val="000000"/>
                </a:solidFill>
                <a:latin typeface="Century Gothic Paneuropean Bold"/>
                <a:ea typeface="Century Gothic Paneuropean Bold"/>
                <a:cs typeface="Century Gothic Paneuropean Bold"/>
                <a:sym typeface="Century Gothic Paneuropean Bold"/>
              </a:rPr>
              <a:t>Design Defensively (Thiết kế phòng thủ)</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kiểm tra dữ liệu chặt chẽ.</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Kiểm tra ở từng handler và/hoặc ở dispatcher để bắt lỗi sớm.</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308388"/>
            <a:ext cx="17426680" cy="6994153"/>
          </a:xfrm>
          <a:prstGeom prst="rect">
            <a:avLst/>
          </a:prstGeom>
        </p:spPr>
        <p:txBody>
          <a:bodyPr lIns="0" tIns="0" rIns="0" bIns="0" rtlCol="0" anchor="t">
            <a:spAutoFit/>
          </a:bodyPr>
          <a:lstStyle/>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Mô hình kiến trúc Pipe-and-Filter: </a:t>
            </a:r>
            <a:r>
              <a:rPr lang="en-US" sz="3639">
                <a:solidFill>
                  <a:srgbClr val="000000"/>
                </a:solidFill>
                <a:latin typeface="Century Gothic Paneuropean"/>
                <a:ea typeface="Century Gothic Paneuropean"/>
                <a:cs typeface="Century Gothic Paneuropean"/>
                <a:sym typeface="Century Gothic Paneuropean"/>
              </a:rPr>
              <a:t>Mẫu kiến trúc trong đó dữ liệu chảy liên tục qua một chuỗi các bộ xử lý (filters), được nối với nhau bằng ống dẫn (pipes).</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Dữ liệu ở dạng đơn giản: Dễ truyền giữa các bước.</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Mỗi filter biến đổi dữ liệu theo một cách: Mỗi bước làm một việc riêng.</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Dữ liệu liên tục được đưa vào pipeline: Xử lý theo luồng, không phải từng lệnh rời rạc.</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Các filter có thể chạy song song: Tăng hiệu năng.</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Kiến trúc rất linh hoạt, có thể: bỏ bớt filter,thay filter khác,thêm filter mới, đổi thứ tự các filter.</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626146"/>
            <a:ext cx="17426680" cy="6994153"/>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Mô hình kiến trúc Pipe-and-Filter và các nguyên lý thiết kế:</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1️. Divide and Conquer (Chia để trị)</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process/filter là một phần độc lập.</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thiết kế và phát triển riêng.</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2️. Increase Cohesion (Tăng tính kết dính)</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filter chỉ làm một chức năng cụ thể.</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Rất rõ ràng và tập trung.</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3️. Reduce Coupling (Giảm phụ thuộc)</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filter chỉ có 1 đầu vào và 1 đầu ra.</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phụ thuộc chi tiết của filter khác.</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626146"/>
            <a:ext cx="17426680" cy="5717803"/>
          </a:xfrm>
          <a:prstGeom prst="rect">
            <a:avLst/>
          </a:prstGeom>
        </p:spPr>
        <p:txBody>
          <a:bodyPr lIns="0" tIns="0" rIns="0" bIns="0" rtlCol="0" anchor="t">
            <a:spAutoFit/>
          </a:bodyPr>
          <a:lstStyle/>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4️. Increase Abstraction (Tăng trừu tượng)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Filter che giấu cách xử lý bên trong.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Chỉ quan tâm dữ liệu vào/ra.</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5️. Increase Reusability (Tăng khả năng tái sử dụng)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Một filter có thể dùng lại trong nhiều pipeline khác.</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6️. Increase Reuse (Tận dụng cái có sẵn)</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lấy filter có sẵn để gắn vào pipeline.</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cần viết mới.</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626146"/>
            <a:ext cx="17426680" cy="6994153"/>
          </a:xfrm>
          <a:prstGeom prst="rect">
            <a:avLst/>
          </a:prstGeom>
        </p:spPr>
        <p:txBody>
          <a:bodyPr lIns="0" tIns="0" rIns="0" bIns="0" rtlCol="0" anchor="t">
            <a:spAutoFit/>
          </a:bodyPr>
          <a:lstStyle/>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 7️.Design for Flexibility (Thiết kế linh hoạt):</a:t>
            </a:r>
            <a:r>
              <a:rPr lang="en-US" sz="3639">
                <a:solidFill>
                  <a:srgbClr val="000000"/>
                </a:solidFill>
                <a:latin typeface="Century Gothic Paneuropean"/>
                <a:ea typeface="Century Gothic Paneuropean"/>
                <a:cs typeface="Century Gothic Paneuropean"/>
                <a:sym typeface="Century Gothic Paneuropean"/>
              </a:rPr>
              <a:t> Hệ thống rất linh hoạt vì có thể:</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Thêm filter mới, Bỏ filter không cần, Thay filter khác, Đổi thứ tự các filter, Không ảnh hưởng các filter còn lại.</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D</a:t>
            </a:r>
            <a:r>
              <a:rPr lang="en-US" sz="3639" b="1">
                <a:solidFill>
                  <a:srgbClr val="000000"/>
                </a:solidFill>
                <a:latin typeface="Century Gothic Paneuropean Bold"/>
                <a:ea typeface="Century Gothic Paneuropean Bold"/>
                <a:cs typeface="Century Gothic Paneuropean Bold"/>
                <a:sym typeface="Century Gothic Paneuropean Bold"/>
              </a:rPr>
              <a:t>esign for Testability (Dễ kiểm thử)</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filter là một khối độc lập.</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test riêng từng filter với dữ liệu vào/ra rõ ràng.</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D</a:t>
            </a:r>
            <a:r>
              <a:rPr lang="en-US" sz="3639" b="1">
                <a:solidFill>
                  <a:srgbClr val="000000"/>
                </a:solidFill>
                <a:latin typeface="Century Gothic Paneuropean Bold"/>
                <a:ea typeface="Century Gothic Paneuropean Bold"/>
                <a:cs typeface="Century Gothic Paneuropean Bold"/>
                <a:sym typeface="Century Gothic Paneuropean Bold"/>
              </a:rPr>
              <a:t>esign Defensively (Thiết kế phòng thủ)</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filter kiểm tra chặt chẽ dữ liệu đầu vào.</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Hoặc dùng Design by Contract (điều kiện trước – sau).</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Ngăn lỗi lan sang các bước khác.</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028700" y="1140450"/>
            <a:ext cx="16230600" cy="5371723"/>
          </a:xfrm>
          <a:prstGeom prst="rect">
            <a:avLst/>
          </a:prstGeom>
        </p:spPr>
        <p:txBody>
          <a:bodyPr lIns="0" tIns="0" rIns="0" bIns="0" rtlCol="0" anchor="t">
            <a:spAutoFit/>
          </a:bodyPr>
          <a:lstStyle/>
          <a:p>
            <a:pPr algn="l">
              <a:lnSpc>
                <a:spcPts val="4745"/>
              </a:lnSpc>
            </a:pPr>
            <a:r>
              <a:rPr lang="en-US" sz="3389" b="1">
                <a:solidFill>
                  <a:srgbClr val="000000"/>
                </a:solidFill>
                <a:latin typeface="Century Gothic Paneuropean Bold"/>
                <a:ea typeface="Century Gothic Paneuropean Bold"/>
                <a:cs typeface="Century Gothic Paneuropean Bold"/>
                <a:sym typeface="Century Gothic Paneuropean Bold"/>
              </a:rPr>
              <a:t>Mô hình kiến trúc Model-View-Controller (MVC)</a:t>
            </a:r>
            <a:r>
              <a:rPr lang="en-US" sz="3389">
                <a:solidFill>
                  <a:srgbClr val="000000"/>
                </a:solidFill>
                <a:latin typeface="Century Gothic Paneuropean"/>
                <a:ea typeface="Century Gothic Paneuropean"/>
                <a:cs typeface="Century Gothic Paneuropean"/>
                <a:sym typeface="Century Gothic Paneuropean"/>
              </a:rPr>
              <a:t>: MVC là mẫu kiến trúc dùng để tách giao diện người dùng (UI) ra khỏi xử lý dữ liệu và logic của hệ thống.</a:t>
            </a:r>
          </a:p>
          <a:p>
            <a:pPr algn="l">
              <a:lnSpc>
                <a:spcPts val="4745"/>
              </a:lnSpc>
            </a:pPr>
            <a:r>
              <a:rPr lang="en-US" sz="3389">
                <a:solidFill>
                  <a:srgbClr val="000000"/>
                </a:solidFill>
                <a:latin typeface="Century Gothic Paneuropean"/>
                <a:ea typeface="Century Gothic Paneuropean"/>
                <a:cs typeface="Century Gothic Paneuropean"/>
                <a:sym typeface="Century Gothic Paneuropean"/>
              </a:rPr>
              <a:t>3 thành phần chính:</a:t>
            </a:r>
          </a:p>
          <a:p>
            <a:pPr marL="731867" lvl="1" indent="-365933" algn="l">
              <a:lnSpc>
                <a:spcPts val="4745"/>
              </a:lnSpc>
              <a:buFont typeface="Arial"/>
              <a:buChar char="•"/>
            </a:pPr>
            <a:r>
              <a:rPr lang="en-US" sz="3389">
                <a:solidFill>
                  <a:srgbClr val="000000"/>
                </a:solidFill>
                <a:latin typeface="Century Gothic Paneuropean"/>
                <a:ea typeface="Century Gothic Paneuropean"/>
                <a:cs typeface="Century Gothic Paneuropean"/>
                <a:sym typeface="Century Gothic Paneuropean"/>
              </a:rPr>
              <a:t>Model: Chứa dữ liệu và logic nghiệp vụ, Không quan tâm giao diện</a:t>
            </a:r>
          </a:p>
          <a:p>
            <a:pPr marL="731867" lvl="1" indent="-365933" algn="l">
              <a:lnSpc>
                <a:spcPts val="4745"/>
              </a:lnSpc>
              <a:buFont typeface="Arial"/>
              <a:buChar char="•"/>
            </a:pPr>
            <a:r>
              <a:rPr lang="en-US" sz="3389">
                <a:solidFill>
                  <a:srgbClr val="000000"/>
                </a:solidFill>
                <a:latin typeface="Century Gothic Paneuropean"/>
                <a:ea typeface="Century Gothic Paneuropean"/>
                <a:cs typeface="Century Gothic Paneuropean"/>
                <a:sym typeface="Century Gothic Paneuropean"/>
              </a:rPr>
              <a:t>View: Chịu trách nhiệm hiển thị dữ liệu cho người dùng, Lấy dữ liệu từ, Model để vẽ giao diện</a:t>
            </a:r>
          </a:p>
          <a:p>
            <a:pPr marL="731867" lvl="1" indent="-365933" algn="l">
              <a:lnSpc>
                <a:spcPts val="4745"/>
              </a:lnSpc>
              <a:buFont typeface="Arial"/>
              <a:buChar char="•"/>
            </a:pPr>
            <a:r>
              <a:rPr lang="en-US" sz="3389">
                <a:solidFill>
                  <a:srgbClr val="000000"/>
                </a:solidFill>
                <a:latin typeface="Century Gothic Paneuropean"/>
                <a:ea typeface="Century Gothic Paneuropean"/>
                <a:cs typeface="Century Gothic Paneuropean"/>
                <a:sym typeface="Century Gothic Paneuropean"/>
              </a:rPr>
              <a:t>Controller: Xử lý tương tác của người dùng (click, nhập liệu), Gọi Model để xử lý, Chọn View để hiển thị kết quả</a:t>
            </a:r>
          </a:p>
          <a:p>
            <a:pPr algn="l">
              <a:lnSpc>
                <a:spcPts val="4745"/>
              </a:lnSpc>
            </a:pPr>
            <a:endParaRPr lang="en-US" sz="338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4403965" y="132686"/>
            <a:ext cx="9480070" cy="3668657"/>
          </a:xfrm>
          <a:custGeom>
            <a:avLst/>
            <a:gdLst/>
            <a:ahLst/>
            <a:cxnLst/>
            <a:rect l="l" t="t" r="r" b="b"/>
            <a:pathLst>
              <a:path w="9480070" h="3668657">
                <a:moveTo>
                  <a:pt x="0" y="0"/>
                </a:moveTo>
                <a:lnTo>
                  <a:pt x="9480070" y="0"/>
                </a:lnTo>
                <a:lnTo>
                  <a:pt x="9480070" y="3668657"/>
                </a:lnTo>
                <a:lnTo>
                  <a:pt x="0" y="3668657"/>
                </a:lnTo>
                <a:lnTo>
                  <a:pt x="0" y="0"/>
                </a:lnTo>
                <a:close/>
              </a:path>
            </a:pathLst>
          </a:custGeom>
          <a:blipFill>
            <a:blip r:embed="rId2"/>
            <a:stretch>
              <a:fillRect l="-586" r="-586"/>
            </a:stretch>
          </a:blipFill>
        </p:spPr>
        <p:txBody>
          <a:bodyPr/>
          <a:lstStyle/>
          <a:p>
            <a:endParaRPr lang="en-US"/>
          </a:p>
        </p:txBody>
      </p:sp>
      <p:sp>
        <p:nvSpPr>
          <p:cNvPr id="12" name="TextBox 12"/>
          <p:cNvSpPr txBox="1"/>
          <p:nvPr/>
        </p:nvSpPr>
        <p:spPr>
          <a:xfrm>
            <a:off x="6456938" y="3734668"/>
            <a:ext cx="5374124" cy="539115"/>
          </a:xfrm>
          <a:prstGeom prst="rect">
            <a:avLst/>
          </a:prstGeom>
        </p:spPr>
        <p:txBody>
          <a:bodyPr lIns="0" tIns="0" rIns="0" bIns="0" rtlCol="0" anchor="t">
            <a:spAutoFit/>
          </a:bodyPr>
          <a:lstStyle/>
          <a:p>
            <a:pPr algn="ctr">
              <a:lnSpc>
                <a:spcPts val="4409"/>
              </a:lnSpc>
              <a:spcBef>
                <a:spcPct val="0"/>
              </a:spcBef>
            </a:pPr>
            <a:r>
              <a:rPr lang="en-US" sz="3150">
                <a:solidFill>
                  <a:srgbClr val="000000"/>
                </a:solidFill>
                <a:latin typeface="Open Sans"/>
                <a:ea typeface="Open Sans"/>
                <a:cs typeface="Open Sans"/>
                <a:sym typeface="Open Sans"/>
              </a:rPr>
              <a:t>Model-View-Controller (MVC)</a:t>
            </a:r>
          </a:p>
        </p:txBody>
      </p:sp>
      <p:sp>
        <p:nvSpPr>
          <p:cNvPr id="13" name="TextBox 13"/>
          <p:cNvSpPr txBox="1"/>
          <p:nvPr/>
        </p:nvSpPr>
        <p:spPr>
          <a:xfrm>
            <a:off x="1836725" y="4933701"/>
            <a:ext cx="14882217" cy="3301365"/>
          </a:xfrm>
          <a:prstGeom prst="rect">
            <a:avLst/>
          </a:prstGeom>
        </p:spPr>
        <p:txBody>
          <a:bodyPr lIns="0" tIns="0" rIns="0" bIns="0" rtlCol="0" anchor="t">
            <a:spAutoFit/>
          </a:bodyPr>
          <a:lstStyle/>
          <a:p>
            <a:pPr algn="l">
              <a:lnSpc>
                <a:spcPts val="4409"/>
              </a:lnSpc>
              <a:spcBef>
                <a:spcPct val="0"/>
              </a:spcBef>
            </a:pPr>
            <a:r>
              <a:rPr lang="en-US" sz="3150">
                <a:solidFill>
                  <a:srgbClr val="000000"/>
                </a:solidFill>
                <a:latin typeface="Open Sans"/>
                <a:ea typeface="Open Sans"/>
                <a:cs typeface="Open Sans"/>
                <a:sym typeface="Open Sans"/>
              </a:rPr>
              <a:t>Model – View – Controller phối hợp với nhau khi người dùng tương tác hệ thống.</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Người dùng tương tác với View.</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 Sự kiện được gửi đến Controller.</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 Controller modify Model.</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 Model notify View về thay đổi.</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 View cập nhật lại giao diện.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626146"/>
            <a:ext cx="17426680" cy="6994153"/>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Kiến trúc và nguyên tắc thiết kế MVC: </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1️. Divide and Conquer (Chia để trị)</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Model – View – Controller là 3 phần tách biệt.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thiết kế và phát triển tương đối độc lập.</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2️. Increase Cohesion (Tăng tính kết dính)</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phần tập trung đúng vai trò của mình.</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Tốt hơn việc gộp View và Controller chung một tầng UI.</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3️. Reduce Coupling (Giảm phụ thuộc)</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Giao tiếp giữa Model – View – Controller ít và rõ ràng.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phụ thuộc chồng chéo.</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626146"/>
            <a:ext cx="17426680" cy="6355978"/>
          </a:xfrm>
          <a:prstGeom prst="rect">
            <a:avLst/>
          </a:prstGeom>
        </p:spPr>
        <p:txBody>
          <a:bodyPr lIns="0" tIns="0" rIns="0" bIns="0" rtlCol="0" anchor="t">
            <a:spAutoFit/>
          </a:bodyPr>
          <a:lstStyle/>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6️. Increase Reuse (Tăng tái sử dụng)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View và Controller tận dụng nhiều component UI có sẵn.</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Ví dụ: button, form, table.</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7️ Design for Flexibility (Linh hoạt)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Dễ thay đổi giao diện.</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Chỉ cần sửa View, Controller hoặc cả hai, không ảnh hưởng Model.</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8</a:t>
            </a:r>
            <a:r>
              <a:rPr lang="en-US" sz="3639" b="1">
                <a:solidFill>
                  <a:srgbClr val="000000"/>
                </a:solidFill>
                <a:latin typeface="Century Gothic Paneuropean Bold"/>
                <a:ea typeface="Century Gothic Paneuropean Bold"/>
                <a:cs typeface="Century Gothic Paneuropean Bold"/>
                <a:sym typeface="Century Gothic Paneuropean Bold"/>
              </a:rPr>
              <a:t> Design for Testability (Dễ kiểm thử)</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test logic nghiệp vụ (Model) riêng.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cần giao diện.</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488343" y="1230452"/>
            <a:ext cx="17426680" cy="8270503"/>
          </a:xfrm>
          <a:prstGeom prst="rect">
            <a:avLst/>
          </a:prstGeom>
        </p:spPr>
        <p:txBody>
          <a:bodyPr lIns="0" tIns="0" rIns="0" bIns="0" rtlCol="0" anchor="t">
            <a:spAutoFit/>
          </a:bodyPr>
          <a:lstStyle/>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Service-Oriented Architectural Pattern(Mô hình kiến trúc hướng dịch vụ)</a:t>
            </a:r>
            <a:r>
              <a:rPr lang="en-US" sz="3639">
                <a:solidFill>
                  <a:srgbClr val="000000"/>
                </a:solidFill>
                <a:latin typeface="Century Gothic Paneuropean"/>
                <a:ea typeface="Century Gothic Paneuropean"/>
                <a:cs typeface="Century Gothic Paneuropean"/>
                <a:sym typeface="Century Gothic Paneuropean"/>
              </a:rPr>
              <a:t>: là tổ chức hệ thống thành các dịch vụ (services) độc lập, giao tiếp với nhau qua interface được định nghĩa rõ ràng.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Hệ thống là tập hợp các service</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service làm một chức năng cụ thể.</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Giao tiếp qua interface chuẩn</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cần biết bên trong service được cài đặt thế nào.</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Web Services (trong môi trường Internet)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Service truy cập qua Internet.</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Có thể kết hợp nhiều service để tạo hệ thống hoàn chỉnh.</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Dùng chuẩn mở để giao tiếp</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Ví dụ: XML (thường đi kèm SOAP/HTTP).</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811834" y="234607"/>
            <a:ext cx="10200296" cy="4908893"/>
          </a:xfrm>
          <a:custGeom>
            <a:avLst/>
            <a:gdLst/>
            <a:ahLst/>
            <a:cxnLst/>
            <a:rect l="l" t="t" r="r" b="b"/>
            <a:pathLst>
              <a:path w="10200296" h="4908893">
                <a:moveTo>
                  <a:pt x="0" y="0"/>
                </a:moveTo>
                <a:lnTo>
                  <a:pt x="10200296" y="0"/>
                </a:lnTo>
                <a:lnTo>
                  <a:pt x="10200296" y="4908893"/>
                </a:lnTo>
                <a:lnTo>
                  <a:pt x="0" y="4908893"/>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258882" y="5404485"/>
            <a:ext cx="11166634" cy="3853815"/>
          </a:xfrm>
          <a:prstGeom prst="rect">
            <a:avLst/>
          </a:prstGeom>
        </p:spPr>
        <p:txBody>
          <a:bodyPr lIns="0" tIns="0" rIns="0" bIns="0" rtlCol="0" anchor="t">
            <a:spAutoFit/>
          </a:bodyPr>
          <a:lstStyle/>
          <a:p>
            <a:pPr algn="l">
              <a:lnSpc>
                <a:spcPts val="4409"/>
              </a:lnSpc>
            </a:pPr>
            <a:r>
              <a:rPr lang="en-US" sz="3150" b="1">
                <a:solidFill>
                  <a:srgbClr val="000000"/>
                </a:solidFill>
                <a:latin typeface="Open Sans Bold"/>
                <a:ea typeface="Open Sans Bold"/>
                <a:cs typeface="Open Sans Bold"/>
                <a:sym typeface="Open Sans Bold"/>
              </a:rPr>
              <a:t>Luồng hoạt động:</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Web client gửi request HTTP đến Web service trung tâm.</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Web service trung tâm xử lý, có thể:</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Gọi Web service A để lấy dữ liệu</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Gọi Web service B để xử lý nghiệp vụ khác</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Gọi Local service (dịch vụ nội bộ)</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Kết quả tổng hợp → trả về cho Web client.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626146"/>
            <a:ext cx="17426680" cy="6994153"/>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Các nguyên tắc thiết kế và kiến trúc hướng dịch vụ: </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1️ Divide and Conquer (Chia để trị)</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Ứng dụng được tạo từ nhiều service độc lập</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service có thể thiết kế, phát triển riêng</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2️ Increase Cohesion (Tăng tính kết dính)</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Web service tập trung vào một chức năng rõ ràng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Thường được tổ chức theo các tầng</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3️ Reduce Coupling (Giảm phụ thuộc)</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Các service kết nối lỏng lẻo</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Giao tiếp qua interface/HTTP, không phụ thuộc cài đặt</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626146"/>
            <a:ext cx="17426680" cy="7632328"/>
          </a:xfrm>
          <a:prstGeom prst="rect">
            <a:avLst/>
          </a:prstGeom>
        </p:spPr>
        <p:txBody>
          <a:bodyPr lIns="0" tIns="0" rIns="0" bIns="0" rtlCol="0" anchor="t">
            <a:spAutoFit/>
          </a:bodyPr>
          <a:lstStyle/>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4 Increase Reusability (Tăng khả năng tái sử dụng)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Một Web service có thể dùng cho nhiều ứng dụng khác nhau</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5 Increase Reuse (Tận dụng lại dịch vụ có sẵn)</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Ứng dụng Web thường ghép từ các Web service đã tồn tại</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6 Anticipate Obsolescence (Chống lỗi thời)</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Service cũ có thể thay bằng service mới</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ảnh hưởng đến các ứng dụng đang dùng service đó</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7 Design for Portability (Dễ chuyển nền tảng)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Một service có thể chạy trên bất kỳ nền tảng nào</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Chỉ cần tuân theo các chuẩn (HTTP, XML/JSON, SOAP/REST)</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626146"/>
            <a:ext cx="17426680" cy="5079628"/>
          </a:xfrm>
          <a:prstGeom prst="rect">
            <a:avLst/>
          </a:prstGeom>
        </p:spPr>
        <p:txBody>
          <a:bodyPr lIns="0" tIns="0" rIns="0" bIns="0" rtlCol="0" anchor="t">
            <a:spAutoFit/>
          </a:bodyPr>
          <a:lstStyle/>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8 Design for Testability (Dễ kiểm thử)</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Mỗi service test độc lập</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Không cần toàn bộ hệ thống chạy cùng lúc</a:t>
            </a:r>
          </a:p>
          <a:p>
            <a:pPr algn="l">
              <a:lnSpc>
                <a:spcPts val="5095"/>
              </a:lnSpc>
            </a:pPr>
            <a:r>
              <a:rPr lang="en-US" sz="3639" b="1">
                <a:solidFill>
                  <a:srgbClr val="000000"/>
                </a:solidFill>
                <a:latin typeface="Century Gothic Paneuropean Bold"/>
                <a:ea typeface="Century Gothic Paneuropean Bold"/>
                <a:cs typeface="Century Gothic Paneuropean Bold"/>
                <a:sym typeface="Century Gothic Paneuropean Bold"/>
              </a:rPr>
              <a:t>9 Design Defensively (Thiết kế phòng thủ)</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Service phải kiểm tra chặt chẽ dữ liệu đầu vào</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Vì nhiều ứng dụng khác nhau có thể gọi cùng một service</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 → Tránh lỗi và tấn công</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626146"/>
            <a:ext cx="17426680" cy="6355978"/>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Mô hình kiến trúc định hướng thông điệp: </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MOM là kiến trúc trong đó các hệ thống con không gọi trực tiếp nhau mà chỉ giao tiếp bằng cách gửi–nhận thông điệp (message).</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Chỉ giao tiếp bằng message → Không gọi hàm trực tiếp, không phụ thuộc chặt. Application-to-application messaging system → Có hệ thống trung gian (message broker). </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Không cần online cùng lúc → Message được lưu (persistent), bên nhận đọc sau.</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Publisher / Subscriber + Topic → Bên gửi (publisher) gửi message vào topic → Bên nhận (subscriber) đăng ký topic để nhận.</a:t>
            </a: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808792" y="227585"/>
            <a:ext cx="9125691" cy="5190237"/>
          </a:xfrm>
          <a:custGeom>
            <a:avLst/>
            <a:gdLst/>
            <a:ahLst/>
            <a:cxnLst/>
            <a:rect l="l" t="t" r="r" b="b"/>
            <a:pathLst>
              <a:path w="9125691" h="5190237">
                <a:moveTo>
                  <a:pt x="0" y="0"/>
                </a:moveTo>
                <a:lnTo>
                  <a:pt x="9125691" y="0"/>
                </a:lnTo>
                <a:lnTo>
                  <a:pt x="9125691" y="5190237"/>
                </a:lnTo>
                <a:lnTo>
                  <a:pt x="0" y="5190237"/>
                </a:lnTo>
                <a:lnTo>
                  <a:pt x="0" y="0"/>
                </a:lnTo>
                <a:close/>
              </a:path>
            </a:pathLst>
          </a:custGeom>
          <a:blipFill>
            <a:blip r:embed="rId2"/>
            <a:stretch>
              <a:fillRect/>
            </a:stretch>
          </a:blipFill>
        </p:spPr>
        <p:txBody>
          <a:bodyPr/>
          <a:lstStyle/>
          <a:p>
            <a:endParaRPr lang="en-US"/>
          </a:p>
        </p:txBody>
      </p:sp>
      <p:sp>
        <p:nvSpPr>
          <p:cNvPr id="12" name="TextBox 12"/>
          <p:cNvSpPr txBox="1"/>
          <p:nvPr/>
        </p:nvSpPr>
        <p:spPr>
          <a:xfrm>
            <a:off x="2675267" y="6203038"/>
            <a:ext cx="12937465" cy="2748915"/>
          </a:xfrm>
          <a:prstGeom prst="rect">
            <a:avLst/>
          </a:prstGeom>
        </p:spPr>
        <p:txBody>
          <a:bodyPr lIns="0" tIns="0" rIns="0" bIns="0" rtlCol="0" anchor="t">
            <a:spAutoFit/>
          </a:bodyPr>
          <a:lstStyle/>
          <a:p>
            <a:pPr algn="l">
              <a:lnSpc>
                <a:spcPts val="4409"/>
              </a:lnSpc>
            </a:pPr>
            <a:r>
              <a:rPr lang="en-US" sz="3150" b="1">
                <a:solidFill>
                  <a:srgbClr val="000000"/>
                </a:solidFill>
                <a:latin typeface="Open Sans Bold"/>
                <a:ea typeface="Open Sans Bold"/>
                <a:cs typeface="Open Sans Bold"/>
                <a:sym typeface="Open Sans Bold"/>
              </a:rPr>
              <a:t>Luồng hoạt động:</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Một MOM client (publisher) gửi message đến Message Server</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 Message Server nhận message</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 Message Server gửi message đến tất cả subscriber đã đăng ký</a:t>
            </a:r>
          </a:p>
          <a:p>
            <a:pPr marL="680085" lvl="1" indent="-340042" algn="l">
              <a:lnSpc>
                <a:spcPts val="4409"/>
              </a:lnSpc>
              <a:buFont typeface="Arial"/>
              <a:buChar char="•"/>
            </a:pPr>
            <a:r>
              <a:rPr lang="en-US" sz="3150">
                <a:solidFill>
                  <a:srgbClr val="000000"/>
                </a:solidFill>
                <a:latin typeface="Open Sans"/>
                <a:ea typeface="Open Sans"/>
                <a:cs typeface="Open Sans"/>
                <a:sym typeface="Open Sans"/>
              </a:rPr>
              <a:t> Các MOM client (subscriber) nhận message không cần biết ai gửi</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61320" y="1626146"/>
            <a:ext cx="17426680" cy="6994153"/>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Các nguyên tắc thiết kế và kiến trúc định hướng thông điệp:</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Ứng dụng được chia thành các component độc lập. </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Các component liên kết lỏng lẻo vì chúng chỉ chia sẻ định dạng message.</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Chi tiết ứng dụng được che giấu sau hệ thống message. </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Component tái sử dụng được nếu message format đủ linh hoạt. </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Component có thể dùng lại nếu hệ thống mới tuân theo format message</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Hệ thống MOM dễ mở rộng hoặc thay đổi bằng cách thêm, thay hoặc bỏ component mà không ảnh hưởng các component khác. </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Mỗi component có thể được test độc lập </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Mỗi component phải kiểm tra message trước khi xử lý</a:t>
            </a:r>
          </a:p>
        </p:txBody>
      </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88343" y="140164"/>
            <a:ext cx="7932367"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5.CÁC MẪU KIẾN TRÚC</a:t>
            </a:r>
          </a:p>
        </p:txBody>
      </p:sp>
      <p:graphicFrame>
        <p:nvGraphicFramePr>
          <p:cNvPr id="13" name="Group 1216">
            <a:extLst>
              <a:ext uri="{FF2B5EF4-FFF2-40B4-BE49-F238E27FC236}">
                <a16:creationId xmlns:a16="http://schemas.microsoft.com/office/drawing/2014/main" id="{F891755F-AB8B-C1BD-F313-ECA2CCF88C15}"/>
              </a:ext>
            </a:extLst>
          </p:cNvPr>
          <p:cNvGraphicFramePr>
            <a:graphicFrameLocks/>
          </p:cNvGraphicFramePr>
          <p:nvPr>
            <p:extLst>
              <p:ext uri="{D42A27DB-BD31-4B8C-83A1-F6EECF244321}">
                <p14:modId xmlns:p14="http://schemas.microsoft.com/office/powerpoint/2010/main" val="3039300864"/>
              </p:ext>
            </p:extLst>
          </p:nvPr>
        </p:nvGraphicFramePr>
        <p:xfrm>
          <a:off x="1066799" y="1371600"/>
          <a:ext cx="16078202" cy="8287578"/>
        </p:xfrm>
        <a:graphic>
          <a:graphicData uri="http://schemas.openxmlformats.org/drawingml/2006/table">
            <a:tbl>
              <a:tblPr/>
              <a:tblGrid>
                <a:gridCol w="5893680">
                  <a:extLst>
                    <a:ext uri="{9D8B030D-6E8A-4147-A177-3AD203B41FA5}">
                      <a16:colId xmlns:a16="http://schemas.microsoft.com/office/drawing/2014/main" val="2705252485"/>
                    </a:ext>
                  </a:extLst>
                </a:gridCol>
                <a:gridCol w="925867">
                  <a:extLst>
                    <a:ext uri="{9D8B030D-6E8A-4147-A177-3AD203B41FA5}">
                      <a16:colId xmlns:a16="http://schemas.microsoft.com/office/drawing/2014/main" val="1828123220"/>
                    </a:ext>
                  </a:extLst>
                </a:gridCol>
                <a:gridCol w="925864">
                  <a:extLst>
                    <a:ext uri="{9D8B030D-6E8A-4147-A177-3AD203B41FA5}">
                      <a16:colId xmlns:a16="http://schemas.microsoft.com/office/drawing/2014/main" val="965001646"/>
                    </a:ext>
                  </a:extLst>
                </a:gridCol>
                <a:gridCol w="925867">
                  <a:extLst>
                    <a:ext uri="{9D8B030D-6E8A-4147-A177-3AD203B41FA5}">
                      <a16:colId xmlns:a16="http://schemas.microsoft.com/office/drawing/2014/main" val="639484095"/>
                    </a:ext>
                  </a:extLst>
                </a:gridCol>
                <a:gridCol w="925864">
                  <a:extLst>
                    <a:ext uri="{9D8B030D-6E8A-4147-A177-3AD203B41FA5}">
                      <a16:colId xmlns:a16="http://schemas.microsoft.com/office/drawing/2014/main" val="4050044615"/>
                    </a:ext>
                  </a:extLst>
                </a:gridCol>
                <a:gridCol w="925867">
                  <a:extLst>
                    <a:ext uri="{9D8B030D-6E8A-4147-A177-3AD203B41FA5}">
                      <a16:colId xmlns:a16="http://schemas.microsoft.com/office/drawing/2014/main" val="3995367561"/>
                    </a:ext>
                  </a:extLst>
                </a:gridCol>
                <a:gridCol w="925864">
                  <a:extLst>
                    <a:ext uri="{9D8B030D-6E8A-4147-A177-3AD203B41FA5}">
                      <a16:colId xmlns:a16="http://schemas.microsoft.com/office/drawing/2014/main" val="1304268414"/>
                    </a:ext>
                  </a:extLst>
                </a:gridCol>
                <a:gridCol w="925867">
                  <a:extLst>
                    <a:ext uri="{9D8B030D-6E8A-4147-A177-3AD203B41FA5}">
                      <a16:colId xmlns:a16="http://schemas.microsoft.com/office/drawing/2014/main" val="3974737792"/>
                    </a:ext>
                  </a:extLst>
                </a:gridCol>
                <a:gridCol w="925864">
                  <a:extLst>
                    <a:ext uri="{9D8B030D-6E8A-4147-A177-3AD203B41FA5}">
                      <a16:colId xmlns:a16="http://schemas.microsoft.com/office/drawing/2014/main" val="2604557392"/>
                    </a:ext>
                  </a:extLst>
                </a:gridCol>
                <a:gridCol w="925867">
                  <a:extLst>
                    <a:ext uri="{9D8B030D-6E8A-4147-A177-3AD203B41FA5}">
                      <a16:colId xmlns:a16="http://schemas.microsoft.com/office/drawing/2014/main" val="4210257304"/>
                    </a:ext>
                  </a:extLst>
                </a:gridCol>
                <a:gridCol w="925864">
                  <a:extLst>
                    <a:ext uri="{9D8B030D-6E8A-4147-A177-3AD203B41FA5}">
                      <a16:colId xmlns:a16="http://schemas.microsoft.com/office/drawing/2014/main" val="1482185955"/>
                    </a:ext>
                  </a:extLst>
                </a:gridCol>
                <a:gridCol w="925867">
                  <a:extLst>
                    <a:ext uri="{9D8B030D-6E8A-4147-A177-3AD203B41FA5}">
                      <a16:colId xmlns:a16="http://schemas.microsoft.com/office/drawing/2014/main" val="4266382056"/>
                    </a:ext>
                  </a:extLst>
                </a:gridCol>
              </a:tblGrid>
              <a:tr h="920842">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0558139"/>
                  </a:ext>
                </a:extLst>
              </a:tr>
              <a:tr h="920842">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Multi-layers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322453233"/>
                  </a:ext>
                </a:extLst>
              </a:tr>
              <a:tr h="920842">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Client-server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1218991"/>
                  </a:ext>
                </a:extLst>
              </a:tr>
              <a:tr h="920842">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Broker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477704308"/>
                  </a:ext>
                </a:extLst>
              </a:tr>
              <a:tr h="920842">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Transaction processing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181859512"/>
                  </a:ext>
                </a:extLst>
              </a:tr>
              <a:tr h="920842">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Pipe-and-filter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125167605"/>
                  </a:ext>
                </a:extLst>
              </a:tr>
              <a:tr h="920842">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MVC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36512019"/>
                  </a:ext>
                </a:extLst>
              </a:tr>
              <a:tr h="920842">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Service-oriented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148085132"/>
                  </a:ext>
                </a:extLst>
              </a:tr>
              <a:tr h="920842">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Times" panose="02020603050405020304" pitchFamily="18" charset="0"/>
                        </a:rPr>
                        <a:t>Message-oriented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000" b="1">
                          <a:solidFill>
                            <a:schemeClr val="tx1"/>
                          </a:solidFill>
                          <a:latin typeface="Times" panose="02020603050405020304" pitchFamily="18" charset="0"/>
                        </a:defRPr>
                      </a:lvl1pPr>
                      <a:lvl2pPr marL="190500">
                        <a:spcBef>
                          <a:spcPct val="20000"/>
                        </a:spcBef>
                        <a:defRPr sz="2000">
                          <a:solidFill>
                            <a:schemeClr val="tx1"/>
                          </a:solidFill>
                          <a:latin typeface="Times" panose="02020603050405020304" pitchFamily="18" charset="0"/>
                        </a:defRPr>
                      </a:lvl2pPr>
                      <a:lvl3pPr marL="576263">
                        <a:spcBef>
                          <a:spcPct val="20000"/>
                        </a:spcBef>
                        <a:defRPr sz="2000">
                          <a:solidFill>
                            <a:schemeClr val="tx1"/>
                          </a:solidFill>
                          <a:latin typeface="Times" panose="02020603050405020304" pitchFamily="18" charset="0"/>
                        </a:defRPr>
                      </a:lvl3pPr>
                      <a:lvl4pPr marL="995363">
                        <a:spcBef>
                          <a:spcPct val="20000"/>
                        </a:spcBef>
                        <a:defRPr>
                          <a:solidFill>
                            <a:schemeClr val="tx1"/>
                          </a:solidFill>
                          <a:latin typeface="Times" panose="02020603050405020304" pitchFamily="18" charset="0"/>
                        </a:defRPr>
                      </a:lvl4pPr>
                      <a:lvl5pPr marL="1414463">
                        <a:spcBef>
                          <a:spcPct val="20000"/>
                        </a:spcBef>
                        <a:defRPr>
                          <a:solidFill>
                            <a:schemeClr val="tx1"/>
                          </a:solidFill>
                          <a:latin typeface="Times" panose="02020603050405020304" pitchFamily="18" charset="0"/>
                        </a:defRPr>
                      </a:lvl5pPr>
                      <a:lvl6pPr marL="1871663" eaLnBrk="0" fontAlgn="base" hangingPunct="0">
                        <a:spcBef>
                          <a:spcPct val="20000"/>
                        </a:spcBef>
                        <a:spcAft>
                          <a:spcPct val="0"/>
                        </a:spcAft>
                        <a:defRPr>
                          <a:solidFill>
                            <a:schemeClr val="tx1"/>
                          </a:solidFill>
                          <a:latin typeface="Times" panose="02020603050405020304" pitchFamily="18" charset="0"/>
                        </a:defRPr>
                      </a:lvl6pPr>
                      <a:lvl7pPr marL="2328863" eaLnBrk="0" fontAlgn="base" hangingPunct="0">
                        <a:spcBef>
                          <a:spcPct val="20000"/>
                        </a:spcBef>
                        <a:spcAft>
                          <a:spcPct val="0"/>
                        </a:spcAft>
                        <a:defRPr>
                          <a:solidFill>
                            <a:schemeClr val="tx1"/>
                          </a:solidFill>
                          <a:latin typeface="Times" panose="02020603050405020304" pitchFamily="18" charset="0"/>
                        </a:defRPr>
                      </a:lvl7pPr>
                      <a:lvl8pPr marL="2786063" eaLnBrk="0" fontAlgn="base" hangingPunct="0">
                        <a:spcBef>
                          <a:spcPct val="20000"/>
                        </a:spcBef>
                        <a:spcAft>
                          <a:spcPct val="0"/>
                        </a:spcAft>
                        <a:defRPr>
                          <a:solidFill>
                            <a:schemeClr val="tx1"/>
                          </a:solidFill>
                          <a:latin typeface="Times" panose="02020603050405020304" pitchFamily="18" charset="0"/>
                        </a:defRPr>
                      </a:lvl8pPr>
                      <a:lvl9pPr marL="3243263" eaLnBrk="0" fontAlgn="base" hangingPunct="0">
                        <a:spcBef>
                          <a:spcPct val="20000"/>
                        </a:spcBef>
                        <a:spcAft>
                          <a:spcPct val="0"/>
                        </a:spcAft>
                        <a:defRPr>
                          <a:solidFill>
                            <a:schemeClr val="tx1"/>
                          </a:solidFill>
                          <a:latin typeface="Times"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349890688"/>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488343" y="140164"/>
            <a:ext cx="10791142"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6.VIẾT MỘT TÀI LIỆU THIẾT KẾ TỐT</a:t>
            </a:r>
          </a:p>
        </p:txBody>
      </p:sp>
      <p:sp>
        <p:nvSpPr>
          <p:cNvPr id="12" name="TextBox 12"/>
          <p:cNvSpPr txBox="1"/>
          <p:nvPr/>
        </p:nvSpPr>
        <p:spPr>
          <a:xfrm>
            <a:off x="1028700" y="1311005"/>
            <a:ext cx="17426680" cy="6994153"/>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Tài liệu thiết kế giúp tạo ra thiết kế tốt hơn và là công cụ giao tiếp giữa những người tham gia phát triển hệ thống.</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Chúng buộc bạn phải rõ ràng và xem xét các vấn đề quan trọng trước khi bắt đầu triển khai. Chúng cho phép một nhóm người xem xét thiết kế và do đó cải thiện nó. </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Thiết kế tài liệu như một phương tiện giao tiếp. Gửi đến những người sẽ thực hiện thiết kế. </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Đối với những người sẽ cần, trong tương lai, sửa đổi thiết kế. Gửi đến những người cần tạo hệ thống hoặc hệ thống con giao tiếp với hệ thống đang được thiết kế</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488343" y="140164"/>
            <a:ext cx="10791142"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6.VIẾT MỘT TÀI LIỆU THIẾT KẾ TỐT</a:t>
            </a:r>
          </a:p>
        </p:txBody>
      </p:sp>
      <p:sp>
        <p:nvSpPr>
          <p:cNvPr id="12" name="TextBox 12"/>
          <p:cNvSpPr txBox="1"/>
          <p:nvPr/>
        </p:nvSpPr>
        <p:spPr>
          <a:xfrm>
            <a:off x="668539" y="1265985"/>
            <a:ext cx="17426680" cy="6994153"/>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Cấu trúc của một tài liệu thiết kế </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Purpose – Mục đích của tài liệu Tài liệu này mô tả phần nào của hệ thống và nhằm thực hiện những yêu cầu nào? </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General Priorities – Các ưu tiên thiết kế Khi thiết kế, ta ưu tiên điều gì nhất? </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Outline of the Design – Phác thảo tổng thể Thiết kế trông như thế nào ở mức cao? </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Major Design Issues – Các quyết định thiết kế quan trọng Những vấn đề khó nhất là gì và đã quyết định ra sao? </a:t>
            </a:r>
          </a:p>
          <a:p>
            <a:pPr marL="785801" lvl="1" indent="-392900" algn="l">
              <a:lnSpc>
                <a:spcPts val="5095"/>
              </a:lnSpc>
              <a:buAutoNum type="arabicPeriod"/>
            </a:pPr>
            <a:r>
              <a:rPr lang="en-US" sz="3639">
                <a:solidFill>
                  <a:srgbClr val="000000"/>
                </a:solidFill>
                <a:latin typeface="Century Gothic Paneuropean"/>
                <a:ea typeface="Century Gothic Paneuropean"/>
                <a:cs typeface="Century Gothic Paneuropean"/>
                <a:sym typeface="Century Gothic Paneuropean"/>
              </a:rPr>
              <a:t>Other Design Details – Các chi tiết khác Còn chi tiết nào quan trọng mà chưa nói ở trên?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488343" y="140164"/>
            <a:ext cx="17656704"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7.THIẾT KẾ MỘT TÍNH NĂNG CỦA HỆ THỐNG SIMPLECHAT</a:t>
            </a:r>
          </a:p>
        </p:txBody>
      </p:sp>
      <p:sp>
        <p:nvSpPr>
          <p:cNvPr id="12" name="TextBox 12"/>
          <p:cNvSpPr txBox="1"/>
          <p:nvPr/>
        </p:nvSpPr>
        <p:spPr>
          <a:xfrm>
            <a:off x="861320" y="1293999"/>
            <a:ext cx="17426680" cy="7632328"/>
          </a:xfrm>
          <a:prstGeom prst="rect">
            <a:avLst/>
          </a:prstGeom>
        </p:spPr>
        <p:txBody>
          <a:bodyPr lIns="0" tIns="0" rIns="0" bIns="0" rtlCol="0" anchor="t">
            <a:spAutoFit/>
          </a:bodyPr>
          <a:lstStyle/>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A. Purpose – Mục đích tài liệu Tài liệu này nói về phần nào của hệ thống? </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B. General Priorities – Các ưu tiên thiết kế Khi phải chọn giữa nhiều cách làm, ta ưu tiên điều gì trước? </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C. Outline of the Design – Phác thảo thiết kế cho người đọc nhìn tổng thể thiết kế</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Ví Dụ : Vấn đề thiết kế: Lưu thông tin block ở đâu?</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Option 1.1: Lưu trong người đi block</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Option 1.2: Lưu trong người bị block</a:t>
            </a:r>
          </a:p>
          <a:p>
            <a:pPr algn="l">
              <a:lnSpc>
                <a:spcPts val="5095"/>
              </a:lnSpc>
            </a:pPr>
            <a:r>
              <a:rPr lang="en-US" sz="3639">
                <a:solidFill>
                  <a:srgbClr val="000000"/>
                </a:solidFill>
                <a:latin typeface="Century Gothic Paneuropean"/>
                <a:ea typeface="Century Gothic Paneuropean"/>
                <a:cs typeface="Century Gothic Paneuropean"/>
                <a:sym typeface="Century Gothic Paneuropean"/>
              </a:rPr>
              <a:t>Chọn Option 1.1: Block là hành vi của người chặn → dữ liệu phải thuộc về người chặn</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88343" y="-989670"/>
            <a:ext cx="1080715" cy="2956684"/>
            <a:chOff x="0" y="0"/>
            <a:chExt cx="284633" cy="778715"/>
          </a:xfrm>
        </p:grpSpPr>
        <p:sp>
          <p:nvSpPr>
            <p:cNvPr id="9" name="Freeform 9"/>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0" name="TextBox 10"/>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852702" y="174625"/>
            <a:ext cx="17656704" cy="854075"/>
          </a:xfrm>
          <a:prstGeom prst="rect">
            <a:avLst/>
          </a:prstGeom>
        </p:spPr>
        <p:txBody>
          <a:bodyPr lIns="0" tIns="0" rIns="0" bIns="0" rtlCol="0" anchor="t">
            <a:spAutoFit/>
          </a:bodyPr>
          <a:lstStyle/>
          <a:p>
            <a:pPr algn="ctr">
              <a:lnSpc>
                <a:spcPts val="7000"/>
              </a:lnSpc>
            </a:pPr>
            <a:r>
              <a:rPr lang="en-US" sz="5000" b="1">
                <a:solidFill>
                  <a:srgbClr val="000000"/>
                </a:solidFill>
                <a:latin typeface="Century Gothic Paneuropean Bold"/>
                <a:ea typeface="Century Gothic Paneuropean Bold"/>
                <a:cs typeface="Century Gothic Paneuropean Bold"/>
                <a:sym typeface="Century Gothic Paneuropean Bold"/>
              </a:rPr>
              <a:t>8.KHÓ KHĂN VÀ RỦI RO TRONG THIẾT KẾ</a:t>
            </a:r>
          </a:p>
        </p:txBody>
      </p:sp>
      <p:sp>
        <p:nvSpPr>
          <p:cNvPr id="12" name="TextBox 12"/>
          <p:cNvSpPr txBox="1"/>
          <p:nvPr/>
        </p:nvSpPr>
        <p:spPr>
          <a:xfrm>
            <a:off x="1028700" y="1491086"/>
            <a:ext cx="17426680" cy="4441453"/>
          </a:xfrm>
          <a:prstGeom prst="rect">
            <a:avLst/>
          </a:prstGeom>
        </p:spPr>
        <p:txBody>
          <a:bodyPr lIns="0" tIns="0" rIns="0" bIns="0" rtlCol="0" anchor="t">
            <a:spAutoFit/>
          </a:bodyPr>
          <a:lstStyle/>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Thiết kế phần mềm là một kỹ năng khó, cần nhiều kinh nghiệm</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 Không nên để một cá nhân thiết kế một hệ thống lớn</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 Muốn trở thành kiến trúc sư phần mềm thì phải học từ các thiết kế có sẵn</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 Thiết kế kém sẽ khiến chi phí bảo trì rất cao</a:t>
            </a:r>
          </a:p>
          <a:p>
            <a:pPr marL="785801" lvl="1" indent="-392900" algn="l">
              <a:lnSpc>
                <a:spcPts val="5095"/>
              </a:lnSpc>
              <a:buFont typeface="Arial"/>
              <a:buChar char="•"/>
            </a:pPr>
            <a:r>
              <a:rPr lang="en-US" sz="3639">
                <a:solidFill>
                  <a:srgbClr val="000000"/>
                </a:solidFill>
                <a:latin typeface="Century Gothic Paneuropean"/>
                <a:ea typeface="Century Gothic Paneuropean"/>
                <a:cs typeface="Century Gothic Paneuropean"/>
                <a:sym typeface="Century Gothic Paneuropean"/>
              </a:rPr>
              <a:t> Vì vậy phải tuân theo các nguyên lý thiết kế</a:t>
            </a:r>
          </a:p>
          <a:p>
            <a:pPr algn="l">
              <a:lnSpc>
                <a:spcPts val="5095"/>
              </a:lnSpc>
            </a:pPr>
            <a:endParaRPr lang="en-US" sz="3639">
              <a:solidFill>
                <a:srgbClr val="000000"/>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950481" y="4013348"/>
            <a:ext cx="12387037" cy="2031703"/>
          </a:xfrm>
          <a:prstGeom prst="rect">
            <a:avLst/>
          </a:prstGeom>
        </p:spPr>
        <p:txBody>
          <a:bodyPr lIns="0" tIns="0" rIns="0" bIns="0" rtlCol="0" anchor="t">
            <a:spAutoFit/>
          </a:bodyPr>
          <a:lstStyle/>
          <a:p>
            <a:pPr algn="ctr">
              <a:lnSpc>
                <a:spcPts val="16641"/>
              </a:lnSpc>
            </a:pPr>
            <a:r>
              <a:rPr lang="en-US" sz="11886" b="1">
                <a:solidFill>
                  <a:srgbClr val="000000"/>
                </a:solidFill>
                <a:latin typeface="Century Gothic Paneuropean Bold"/>
                <a:ea typeface="Century Gothic Paneuropean Bold"/>
                <a:cs typeface="Century Gothic Paneuropean Bold"/>
                <a:sym typeface="Century Gothic Paneuropean Bold"/>
              </a:rPr>
              <a:t>THANK YOU</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US"/>
            </a:p>
          </p:txBody>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US"/>
            </a:p>
          </p:txBody>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6142</Words>
  <Application>Microsoft Office PowerPoint</Application>
  <PresentationFormat>Tùy chỉnh</PresentationFormat>
  <Paragraphs>502</Paragraphs>
  <Slides>59</Slides>
  <Notes>0</Notes>
  <HiddenSlides>0</HiddenSlides>
  <MMClips>0</MMClips>
  <ScaleCrop>false</ScaleCrop>
  <HeadingPairs>
    <vt:vector size="6" baseType="variant">
      <vt:variant>
        <vt:lpstr>Phông được Dùng</vt:lpstr>
      </vt:variant>
      <vt:variant>
        <vt:i4>8</vt:i4>
      </vt:variant>
      <vt:variant>
        <vt:lpstr>Chủ đề</vt:lpstr>
      </vt:variant>
      <vt:variant>
        <vt:i4>1</vt:i4>
      </vt:variant>
      <vt:variant>
        <vt:lpstr>Tiêu đề Bản chiếu</vt:lpstr>
      </vt:variant>
      <vt:variant>
        <vt:i4>59</vt:i4>
      </vt:variant>
    </vt:vector>
  </HeadingPairs>
  <TitlesOfParts>
    <vt:vector size="68" baseType="lpstr">
      <vt:lpstr>Century Gothic Paneuropean</vt:lpstr>
      <vt:lpstr>Century Gothic Paneuropean Bold</vt:lpstr>
      <vt:lpstr>Open Sans</vt:lpstr>
      <vt:lpstr>Bahnschrift Light</vt:lpstr>
      <vt:lpstr>Calibri</vt:lpstr>
      <vt:lpstr>Times</vt:lpstr>
      <vt:lpstr>Arial</vt:lpstr>
      <vt:lpstr>Open Sans Bold</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Yellow Modern Minimalist Elegant Presentation</dc:title>
  <cp:lastModifiedBy>Trung Lê Xuân</cp:lastModifiedBy>
  <cp:revision>2</cp:revision>
  <dcterms:created xsi:type="dcterms:W3CDTF">2006-08-16T00:00:00Z</dcterms:created>
  <dcterms:modified xsi:type="dcterms:W3CDTF">2026-01-21T15:20:51Z</dcterms:modified>
  <dc:identifier>DAG-03Mp7dc</dc:identifier>
</cp:coreProperties>
</file>